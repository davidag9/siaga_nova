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rial"/>
      </a:defRPr>
    </a:lvl1pPr>
    <a:lvl2pPr indent="228600" latinLnBrk="0">
      <a:defRPr sz="1200">
        <a:latin typeface="+mj-lt"/>
        <a:ea typeface="+mj-ea"/>
        <a:cs typeface="+mj-cs"/>
        <a:sym typeface="Arial"/>
      </a:defRPr>
    </a:lvl2pPr>
    <a:lvl3pPr indent="457200" latinLnBrk="0">
      <a:defRPr sz="1200">
        <a:latin typeface="+mj-lt"/>
        <a:ea typeface="+mj-ea"/>
        <a:cs typeface="+mj-cs"/>
        <a:sym typeface="Arial"/>
      </a:defRPr>
    </a:lvl3pPr>
    <a:lvl4pPr indent="685800" latinLnBrk="0">
      <a:defRPr sz="1200">
        <a:latin typeface="+mj-lt"/>
        <a:ea typeface="+mj-ea"/>
        <a:cs typeface="+mj-cs"/>
        <a:sym typeface="Arial"/>
      </a:defRPr>
    </a:lvl4pPr>
    <a:lvl5pPr indent="914400" latinLnBrk="0">
      <a:defRPr sz="1200">
        <a:latin typeface="+mj-lt"/>
        <a:ea typeface="+mj-ea"/>
        <a:cs typeface="+mj-cs"/>
        <a:sym typeface="Arial"/>
      </a:defRPr>
    </a:lvl5pPr>
    <a:lvl6pPr indent="1143000" latinLnBrk="0">
      <a:defRPr sz="1200">
        <a:latin typeface="+mj-lt"/>
        <a:ea typeface="+mj-ea"/>
        <a:cs typeface="+mj-cs"/>
        <a:sym typeface="Arial"/>
      </a:defRPr>
    </a:lvl6pPr>
    <a:lvl7pPr indent="1371600" latinLnBrk="0">
      <a:defRPr sz="1200">
        <a:latin typeface="+mj-lt"/>
        <a:ea typeface="+mj-ea"/>
        <a:cs typeface="+mj-cs"/>
        <a:sym typeface="Arial"/>
      </a:defRPr>
    </a:lvl7pPr>
    <a:lvl8pPr indent="1600200" latinLnBrk="0">
      <a:defRPr sz="1200">
        <a:latin typeface="+mj-lt"/>
        <a:ea typeface="+mj-ea"/>
        <a:cs typeface="+mj-cs"/>
        <a:sym typeface="Arial"/>
      </a:defRPr>
    </a:lvl8pPr>
    <a:lvl9pPr indent="1828800" latinLnBrk="0"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61" y="1879129"/>
            <a:ext cx="7623588" cy="2452807"/>
          </a:xfrm>
          <a:prstGeom prst="rect">
            <a:avLst/>
          </a:prstGeom>
          <a:ln w="12700">
            <a:miter lim="400000"/>
          </a:ln>
        </p:spPr>
      </p:pic>
      <p:sp>
        <p:nvSpPr>
          <p:cNvPr id="21" name="Text 0"/>
          <p:cNvSpPr txBox="1"/>
          <p:nvPr/>
        </p:nvSpPr>
        <p:spPr>
          <a:xfrm>
            <a:off x="731519" y="4155784"/>
            <a:ext cx="9052562" cy="375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6B6A66"/>
                </a:solidFill>
              </a:defRPr>
            </a:lvl1pPr>
          </a:lstStyle>
          <a:p>
            <a:pPr/>
            <a:r>
              <a:t>The eye that watches five years ahead.</a:t>
            </a:r>
          </a:p>
        </p:txBody>
      </p:sp>
      <p:sp>
        <p:nvSpPr>
          <p:cNvPr id="22" name="Text 1"/>
          <p:cNvSpPr txBox="1"/>
          <p:nvPr/>
        </p:nvSpPr>
        <p:spPr>
          <a:xfrm>
            <a:off x="731519" y="4708050"/>
            <a:ext cx="10881362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300">
                <a:solidFill>
                  <a:srgbClr val="2A78D6"/>
                </a:solidFill>
              </a:defRPr>
            </a:lvl1pPr>
          </a:lstStyle>
          <a:p>
            <a:pPr/>
            <a:r>
              <a:t>10Alytics Global Hackathon 2026   |   Track B: Data Science   |   Pod Nova</a:t>
            </a:r>
          </a:p>
        </p:txBody>
      </p:sp>
      <p:sp>
        <p:nvSpPr>
          <p:cNvPr id="23" name="Text 2"/>
          <p:cNvSpPr txBox="1"/>
          <p:nvPr/>
        </p:nvSpPr>
        <p:spPr>
          <a:xfrm>
            <a:off x="731519" y="6085793"/>
            <a:ext cx="10881362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An early-warning intelligence layer for ASEAN public health   |   SDG 3, 10, 17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26" name="Text 1"/>
          <p:cNvSpPr txBox="1"/>
          <p:nvPr/>
        </p:nvSpPr>
        <p:spPr>
          <a:xfrm>
            <a:off x="685800" y="991752"/>
            <a:ext cx="10424161" cy="942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3000">
                <a:solidFill>
                  <a:srgbClr val="0B0B0B"/>
                </a:solidFill>
              </a:defRPr>
            </a:pPr>
            <a:r>
              <a:t>Southeast Asia's health systems react after the crisis.</a:t>
            </a:r>
          </a:p>
          <a:p>
            <a:pPr>
              <a:defRPr b="1" sz="3000">
                <a:solidFill>
                  <a:srgbClr val="0B0B0B"/>
                </a:solidFill>
              </a:defRPr>
            </a:pPr>
            <a:r>
              <a:t>By then, people have already died.</a:t>
            </a:r>
          </a:p>
        </p:txBody>
      </p:sp>
      <p:sp>
        <p:nvSpPr>
          <p:cNvPr id="27" name="Text 2"/>
          <p:cNvSpPr txBox="1"/>
          <p:nvPr/>
        </p:nvSpPr>
        <p:spPr>
          <a:xfrm>
            <a:off x="685799" y="2680757"/>
            <a:ext cx="3383282" cy="856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5400">
                <a:solidFill>
                  <a:srgbClr val="2A78D6"/>
                </a:solidFill>
              </a:defRPr>
            </a:lvl1pPr>
          </a:lstStyle>
          <a:p>
            <a:pPr/>
            <a:r>
              <a:t>16 yrs</a:t>
            </a:r>
          </a:p>
        </p:txBody>
      </p:sp>
      <p:sp>
        <p:nvSpPr>
          <p:cNvPr id="28" name="Text 3"/>
          <p:cNvSpPr txBox="1"/>
          <p:nvPr/>
        </p:nvSpPr>
        <p:spPr>
          <a:xfrm>
            <a:off x="685800" y="3835560"/>
            <a:ext cx="3291840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gap in life expectancy between the best and worst ASEAN member state</a:t>
            </a:r>
          </a:p>
        </p:txBody>
      </p:sp>
      <p:sp>
        <p:nvSpPr>
          <p:cNvPr id="29" name="Text 4"/>
          <p:cNvSpPr txBox="1"/>
          <p:nvPr/>
        </p:nvSpPr>
        <p:spPr>
          <a:xfrm>
            <a:off x="4434840" y="2680757"/>
            <a:ext cx="3383281" cy="856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5400">
                <a:solidFill>
                  <a:srgbClr val="EB6834"/>
                </a:solidFill>
              </a:defRPr>
            </a:lvl1pPr>
          </a:lstStyle>
          <a:p>
            <a:pPr/>
            <a:r>
              <a:t>56x</a:t>
            </a:r>
          </a:p>
        </p:txBody>
      </p:sp>
      <p:sp>
        <p:nvSpPr>
          <p:cNvPr id="30" name="Text 5"/>
          <p:cNvSpPr txBox="1"/>
          <p:nvPr/>
        </p:nvSpPr>
        <p:spPr>
          <a:xfrm>
            <a:off x="4434840" y="3835560"/>
            <a:ext cx="32918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higher risk of dying in childbirth in Lao PDR than in Singapore</a:t>
            </a:r>
          </a:p>
        </p:txBody>
      </p:sp>
      <p:sp>
        <p:nvSpPr>
          <p:cNvPr id="31" name="Text 6"/>
          <p:cNvSpPr txBox="1"/>
          <p:nvPr/>
        </p:nvSpPr>
        <p:spPr>
          <a:xfrm>
            <a:off x="8183879" y="2680757"/>
            <a:ext cx="3383281" cy="856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5400">
                <a:solidFill>
                  <a:srgbClr val="2A78D6"/>
                </a:solidFill>
              </a:defRPr>
            </a:lvl1pPr>
          </a:lstStyle>
          <a:p>
            <a:pPr/>
            <a:r>
              <a:t>~45%</a:t>
            </a:r>
          </a:p>
        </p:txBody>
      </p:sp>
      <p:sp>
        <p:nvSpPr>
          <p:cNvPr id="32" name="Text 7"/>
          <p:cNvSpPr txBox="1"/>
          <p:nvPr/>
        </p:nvSpPr>
        <p:spPr>
          <a:xfrm>
            <a:off x="8183879" y="3835560"/>
            <a:ext cx="32918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of the global tuberculosis burden sits in the ASEAN region</a:t>
            </a:r>
          </a:p>
        </p:txBody>
      </p:sp>
      <p:sp>
        <p:nvSpPr>
          <p:cNvPr id="33" name="Text 8"/>
          <p:cNvSpPr txBox="1"/>
          <p:nvPr/>
        </p:nvSpPr>
        <p:spPr>
          <a:xfrm>
            <a:off x="685800" y="5269159"/>
            <a:ext cx="10424161" cy="61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>
                <a:solidFill>
                  <a:srgbClr val="0B0B0B"/>
                </a:solidFill>
              </a:defRPr>
            </a:lvl1pPr>
          </a:lstStyle>
          <a:p>
            <a:pPr/>
            <a:r>
              <a:t>The data to prevent these outcomes exists, but it is fragmented, dirty, and backward-looking. SIAGA turns it into foresight.</a:t>
            </a:r>
          </a:p>
        </p:txBody>
      </p:sp>
      <p:sp>
        <p:nvSpPr>
          <p:cNvPr id="34" name="Text 9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35" name="Text 10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THE SOLUTION</a:t>
            </a:r>
          </a:p>
        </p:txBody>
      </p:sp>
      <p:sp>
        <p:nvSpPr>
          <p:cNvPr id="38" name="Text 1"/>
          <p:cNvSpPr txBox="1"/>
          <p:nvPr/>
        </p:nvSpPr>
        <p:spPr>
          <a:xfrm>
            <a:off x="685800" y="933332"/>
            <a:ext cx="10881361" cy="5107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0B0B0B"/>
                </a:solidFill>
              </a:defRPr>
            </a:lvl1pPr>
          </a:lstStyle>
          <a:p>
            <a:pPr/>
            <a:r>
              <a:t>Three decision tools in one intelligence layer</a:t>
            </a:r>
          </a:p>
        </p:txBody>
      </p:sp>
      <p:sp>
        <p:nvSpPr>
          <p:cNvPr id="39" name="Shape 2"/>
          <p:cNvSpPr/>
          <p:nvPr/>
        </p:nvSpPr>
        <p:spPr>
          <a:xfrm>
            <a:off x="640080" y="1828800"/>
            <a:ext cx="3429001" cy="2743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Shape 3"/>
          <p:cNvSpPr/>
          <p:nvPr/>
        </p:nvSpPr>
        <p:spPr>
          <a:xfrm>
            <a:off x="914400" y="2103120"/>
            <a:ext cx="1371600" cy="384049"/>
          </a:xfrm>
          <a:prstGeom prst="roundRect">
            <a:avLst>
              <a:gd name="adj" fmla="val 47619"/>
            </a:avLst>
          </a:prstGeom>
          <a:solidFill>
            <a:srgbClr val="CDE2F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Text 4"/>
          <p:cNvSpPr txBox="1"/>
          <p:nvPr/>
        </p:nvSpPr>
        <p:spPr>
          <a:xfrm>
            <a:off x="960119" y="2156874"/>
            <a:ext cx="1280162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0D366B"/>
                </a:solidFill>
              </a:defRPr>
            </a:lvl1pPr>
          </a:lstStyle>
          <a:p>
            <a:pPr/>
            <a:r>
              <a:t>Predict</a:t>
            </a:r>
          </a:p>
        </p:txBody>
      </p:sp>
      <p:sp>
        <p:nvSpPr>
          <p:cNvPr id="42" name="Text 5"/>
          <p:cNvSpPr txBox="1"/>
          <p:nvPr/>
        </p:nvSpPr>
        <p:spPr>
          <a:xfrm>
            <a:off x="960119" y="2613589"/>
            <a:ext cx="2834642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0B0B0B"/>
                </a:solidFill>
              </a:defRPr>
            </a:lvl1pPr>
          </a:lstStyle>
          <a:p>
            <a:pPr/>
            <a:r>
              <a:t>Lifespan model</a:t>
            </a:r>
          </a:p>
        </p:txBody>
      </p:sp>
      <p:sp>
        <p:nvSpPr>
          <p:cNvPr id="43" name="Text 6"/>
          <p:cNvSpPr txBox="1"/>
          <p:nvPr/>
        </p:nvSpPr>
        <p:spPr>
          <a:xfrm>
            <a:off x="960119" y="3229770"/>
            <a:ext cx="2834642" cy="1038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Predicts a country's life expectancy from the levers a health ministry controls: staffing, immunization, spend, disease burden, nutrition, sanitation.</a:t>
            </a:r>
          </a:p>
        </p:txBody>
      </p:sp>
      <p:sp>
        <p:nvSpPr>
          <p:cNvPr id="44" name="Shape 7"/>
          <p:cNvSpPr/>
          <p:nvPr/>
        </p:nvSpPr>
        <p:spPr>
          <a:xfrm>
            <a:off x="4343400" y="182880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Shape 8"/>
          <p:cNvSpPr/>
          <p:nvPr/>
        </p:nvSpPr>
        <p:spPr>
          <a:xfrm>
            <a:off x="4617720" y="2103120"/>
            <a:ext cx="1371601" cy="384049"/>
          </a:xfrm>
          <a:prstGeom prst="roundRect">
            <a:avLst>
              <a:gd name="adj" fmla="val 47619"/>
            </a:avLst>
          </a:prstGeom>
          <a:solidFill>
            <a:srgbClr val="CDE2F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9"/>
          <p:cNvSpPr txBox="1"/>
          <p:nvPr/>
        </p:nvSpPr>
        <p:spPr>
          <a:xfrm>
            <a:off x="4663440" y="2156874"/>
            <a:ext cx="1280161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0D366B"/>
                </a:solidFill>
              </a:defRPr>
            </a:lvl1pPr>
          </a:lstStyle>
          <a:p>
            <a:pPr/>
            <a:r>
              <a:t>Explain</a:t>
            </a:r>
          </a:p>
        </p:txBody>
      </p:sp>
      <p:sp>
        <p:nvSpPr>
          <p:cNvPr id="47" name="Text 10"/>
          <p:cNvSpPr txBox="1"/>
          <p:nvPr/>
        </p:nvSpPr>
        <p:spPr>
          <a:xfrm>
            <a:off x="4663440" y="2613589"/>
            <a:ext cx="283464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0B0B0B"/>
                </a:solidFill>
              </a:defRPr>
            </a:lvl1pPr>
          </a:lstStyle>
          <a:p>
            <a:pPr/>
            <a:r>
              <a:t>Driver isolation</a:t>
            </a:r>
          </a:p>
        </p:txBody>
      </p:sp>
      <p:sp>
        <p:nvSpPr>
          <p:cNvPr id="48" name="Text 11"/>
          <p:cNvSpPr txBox="1"/>
          <p:nvPr/>
        </p:nvSpPr>
        <p:spPr>
          <a:xfrm>
            <a:off x="4663440" y="3325020"/>
            <a:ext cx="2834641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SHAP ranks every driver in years of life expectancy, so officials see where the next investment buys the most benefit.</a:t>
            </a:r>
          </a:p>
        </p:txBody>
      </p:sp>
      <p:sp>
        <p:nvSpPr>
          <p:cNvPr id="49" name="Shape 12"/>
          <p:cNvSpPr/>
          <p:nvPr/>
        </p:nvSpPr>
        <p:spPr>
          <a:xfrm>
            <a:off x="8046719" y="1828800"/>
            <a:ext cx="3429001" cy="2743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Shape 13"/>
          <p:cNvSpPr/>
          <p:nvPr/>
        </p:nvSpPr>
        <p:spPr>
          <a:xfrm>
            <a:off x="8321040" y="2103120"/>
            <a:ext cx="1371601" cy="384049"/>
          </a:xfrm>
          <a:prstGeom prst="roundRect">
            <a:avLst>
              <a:gd name="adj" fmla="val 47619"/>
            </a:avLst>
          </a:prstGeom>
          <a:solidFill>
            <a:srgbClr val="CDE2F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Text 14"/>
          <p:cNvSpPr txBox="1"/>
          <p:nvPr/>
        </p:nvSpPr>
        <p:spPr>
          <a:xfrm>
            <a:off x="8366760" y="2156874"/>
            <a:ext cx="1280161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0D366B"/>
                </a:solidFill>
              </a:defRPr>
            </a:lvl1pPr>
          </a:lstStyle>
          <a:p>
            <a:pPr/>
            <a:r>
              <a:t>Forecast</a:t>
            </a:r>
          </a:p>
        </p:txBody>
      </p:sp>
      <p:sp>
        <p:nvSpPr>
          <p:cNvPr id="52" name="Text 15"/>
          <p:cNvSpPr txBox="1"/>
          <p:nvPr/>
        </p:nvSpPr>
        <p:spPr>
          <a:xfrm>
            <a:off x="8366760" y="2613589"/>
            <a:ext cx="283464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0B0B0B"/>
                </a:solidFill>
              </a:defRPr>
            </a:lvl1pPr>
          </a:lstStyle>
          <a:p>
            <a:pPr/>
            <a:r>
              <a:t>Disease early-warning</a:t>
            </a:r>
          </a:p>
        </p:txBody>
      </p:sp>
      <p:sp>
        <p:nvSpPr>
          <p:cNvPr id="53" name="Text 16"/>
          <p:cNvSpPr txBox="1"/>
          <p:nvPr/>
        </p:nvSpPr>
        <p:spPr>
          <a:xfrm>
            <a:off x="8366760" y="3325020"/>
            <a:ext cx="2834641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Backtested time-series models forecast TB and malaria five years ahead, with honest uncertainty bands.</a:t>
            </a:r>
          </a:p>
        </p:txBody>
      </p:sp>
      <p:sp>
        <p:nvSpPr>
          <p:cNvPr id="54" name="Text 17"/>
          <p:cNvSpPr txBox="1"/>
          <p:nvPr/>
        </p:nvSpPr>
        <p:spPr>
          <a:xfrm>
            <a:off x="685800" y="4982370"/>
            <a:ext cx="10424161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300">
                <a:solidFill>
                  <a:srgbClr val="6B6A66"/>
                </a:solidFill>
              </a:defRPr>
            </a:lvl1pPr>
          </a:lstStyle>
          <a:p>
            <a:pPr/>
            <a:r>
              <a:t>Siaga is Malay for "alert, ready, on standby", the word ASEAN governments use for emergency preparedness.</a:t>
            </a:r>
          </a:p>
        </p:txBody>
      </p:sp>
      <p:sp>
        <p:nvSpPr>
          <p:cNvPr id="55" name="Text 18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56" name="Text 19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DATA &amp; METHOD</a:t>
            </a:r>
          </a:p>
        </p:txBody>
      </p:sp>
      <p:sp>
        <p:nvSpPr>
          <p:cNvPr id="59" name="Text 1"/>
          <p:cNvSpPr txBox="1"/>
          <p:nvPr/>
        </p:nvSpPr>
        <p:spPr>
          <a:xfrm>
            <a:off x="685800" y="945616"/>
            <a:ext cx="10881361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800">
                <a:solidFill>
                  <a:srgbClr val="0B0B0B"/>
                </a:solidFill>
              </a:defRPr>
            </a:lvl1pPr>
          </a:lstStyle>
          <a:p>
            <a:pPr/>
            <a:r>
              <a:t>Rigour first: we cleaned, then we proved the cleaning</a:t>
            </a:r>
          </a:p>
        </p:txBody>
      </p:sp>
      <p:sp>
        <p:nvSpPr>
          <p:cNvPr id="60" name="Shape 2"/>
          <p:cNvSpPr/>
          <p:nvPr/>
        </p:nvSpPr>
        <p:spPr>
          <a:xfrm>
            <a:off x="64008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Text 3"/>
          <p:cNvSpPr txBox="1"/>
          <p:nvPr/>
        </p:nvSpPr>
        <p:spPr>
          <a:xfrm>
            <a:off x="914399" y="2069080"/>
            <a:ext cx="2103122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2A78D6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62" name="Text 4"/>
          <p:cNvSpPr txBox="1"/>
          <p:nvPr/>
        </p:nvSpPr>
        <p:spPr>
          <a:xfrm>
            <a:off x="914399" y="2958406"/>
            <a:ext cx="2103122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datasets harmonized</a:t>
            </a:r>
          </a:p>
        </p:txBody>
      </p:sp>
      <p:sp>
        <p:nvSpPr>
          <p:cNvPr id="63" name="Text 5"/>
          <p:cNvSpPr txBox="1"/>
          <p:nvPr/>
        </p:nvSpPr>
        <p:spPr>
          <a:xfrm>
            <a:off x="914399" y="3670252"/>
            <a:ext cx="2103122" cy="797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into one clean country-year panel: names reconciled, headers fixed, text-numbers parsed.</a:t>
            </a:r>
          </a:p>
        </p:txBody>
      </p:sp>
      <p:sp>
        <p:nvSpPr>
          <p:cNvPr id="64" name="Shape 6"/>
          <p:cNvSpPr/>
          <p:nvPr/>
        </p:nvSpPr>
        <p:spPr>
          <a:xfrm>
            <a:off x="342900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Text 7"/>
          <p:cNvSpPr txBox="1"/>
          <p:nvPr/>
        </p:nvSpPr>
        <p:spPr>
          <a:xfrm>
            <a:off x="3703319" y="2069080"/>
            <a:ext cx="2103122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2A78D6"/>
                </a:solidFill>
              </a:defRPr>
            </a:lvl1pPr>
          </a:lstStyle>
          <a:p>
            <a:pPr/>
            <a:r>
              <a:t>0.93</a:t>
            </a:r>
          </a:p>
        </p:txBody>
      </p:sp>
      <p:sp>
        <p:nvSpPr>
          <p:cNvPr id="66" name="Text 8"/>
          <p:cNvSpPr txBox="1"/>
          <p:nvPr/>
        </p:nvSpPr>
        <p:spPr>
          <a:xfrm>
            <a:off x="3703319" y="2850456"/>
            <a:ext cx="2103122" cy="517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agreement with World Bank</a:t>
            </a:r>
          </a:p>
        </p:txBody>
      </p:sp>
      <p:sp>
        <p:nvSpPr>
          <p:cNvPr id="67" name="Text 9"/>
          <p:cNvSpPr txBox="1"/>
          <p:nvPr/>
        </p:nvSpPr>
        <p:spPr>
          <a:xfrm>
            <a:off x="3703319" y="3759152"/>
            <a:ext cx="2103122" cy="6198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life-expectancy correlation with an independent source confirms the harmonization.</a:t>
            </a:r>
          </a:p>
        </p:txBody>
      </p:sp>
      <p:sp>
        <p:nvSpPr>
          <p:cNvPr id="68" name="Shape 10"/>
          <p:cNvSpPr/>
          <p:nvPr/>
        </p:nvSpPr>
        <p:spPr>
          <a:xfrm>
            <a:off x="621792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11"/>
          <p:cNvSpPr txBox="1"/>
          <p:nvPr/>
        </p:nvSpPr>
        <p:spPr>
          <a:xfrm>
            <a:off x="6492240" y="2069080"/>
            <a:ext cx="2103121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EB6834"/>
                </a:solidFill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70" name="Text 12"/>
          <p:cNvSpPr txBox="1"/>
          <p:nvPr/>
        </p:nvSpPr>
        <p:spPr>
          <a:xfrm>
            <a:off x="6492240" y="2958406"/>
            <a:ext cx="2103121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errors adjudicated</a:t>
            </a:r>
          </a:p>
        </p:txBody>
      </p:sp>
      <p:sp>
        <p:nvSpPr>
          <p:cNvPr id="71" name="Text 13"/>
          <p:cNvSpPr txBox="1"/>
          <p:nvPr/>
        </p:nvSpPr>
        <p:spPr>
          <a:xfrm>
            <a:off x="6492240" y="3670252"/>
            <a:ext cx="2103121" cy="797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suspected entry errors confirmed against World Bank before repair, not dropped on a hunch.</a:t>
            </a:r>
          </a:p>
        </p:txBody>
      </p:sp>
      <p:sp>
        <p:nvSpPr>
          <p:cNvPr id="72" name="Shape 14"/>
          <p:cNvSpPr/>
          <p:nvPr/>
        </p:nvSpPr>
        <p:spPr>
          <a:xfrm>
            <a:off x="900684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" name="Text 15"/>
          <p:cNvSpPr txBox="1"/>
          <p:nvPr/>
        </p:nvSpPr>
        <p:spPr>
          <a:xfrm>
            <a:off x="9281160" y="2069080"/>
            <a:ext cx="2103121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2A78D6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74" name="Text 16"/>
          <p:cNvSpPr txBox="1"/>
          <p:nvPr/>
        </p:nvSpPr>
        <p:spPr>
          <a:xfrm>
            <a:off x="9281160" y="2958406"/>
            <a:ext cx="2103121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datasets discarded</a:t>
            </a:r>
          </a:p>
        </p:txBody>
      </p:sp>
      <p:sp>
        <p:nvSpPr>
          <p:cNvPr id="75" name="Text 17"/>
          <p:cNvSpPr txBox="1"/>
          <p:nvPr/>
        </p:nvSpPr>
        <p:spPr>
          <a:xfrm>
            <a:off x="9281160" y="3759152"/>
            <a:ext cx="2103121" cy="6198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every file has a role: features, forecast targets, or the equity layer.</a:t>
            </a:r>
          </a:p>
        </p:txBody>
      </p:sp>
      <p:sp>
        <p:nvSpPr>
          <p:cNvPr id="76" name="Text 18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77" name="Text 19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INSIGHT 1 - DRIVER ISOLATION</a:t>
            </a:r>
          </a:p>
        </p:txBody>
      </p:sp>
      <p:sp>
        <p:nvSpPr>
          <p:cNvPr id="80" name="Text 1"/>
          <p:cNvSpPr txBox="1"/>
          <p:nvPr/>
        </p:nvSpPr>
        <p:spPr>
          <a:xfrm>
            <a:off x="685799" y="891861"/>
            <a:ext cx="7406642" cy="8680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Sanitation, disease burden, and income drive life expectancy most</a:t>
            </a:r>
          </a:p>
        </p:txBody>
      </p:sp>
      <p:pic>
        <p:nvPicPr>
          <p:cNvPr id="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920239"/>
            <a:ext cx="6858001" cy="4114801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Shape 2"/>
          <p:cNvSpPr/>
          <p:nvPr/>
        </p:nvSpPr>
        <p:spPr>
          <a:xfrm>
            <a:off x="8229600" y="2011679"/>
            <a:ext cx="3291841" cy="2011681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Text 3"/>
          <p:cNvSpPr txBox="1"/>
          <p:nvPr/>
        </p:nvSpPr>
        <p:spPr>
          <a:xfrm>
            <a:off x="8503919" y="2208251"/>
            <a:ext cx="2834642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0B0B0B"/>
                </a:solidFill>
              </a:defRPr>
            </a:lvl1pPr>
          </a:lstStyle>
          <a:p>
            <a:pPr/>
            <a:r>
              <a:t>Reading it</a:t>
            </a:r>
          </a:p>
        </p:txBody>
      </p:sp>
      <p:sp>
        <p:nvSpPr>
          <p:cNvPr id="84" name="Text 4"/>
          <p:cNvSpPr txBox="1"/>
          <p:nvPr/>
        </p:nvSpPr>
        <p:spPr>
          <a:xfrm>
            <a:off x="8503919" y="2822100"/>
            <a:ext cx="2834642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Basic sanitation access is the largest lever (~1.9 yrs), ahead of TB, HIV, and income. This ranking is the policy priority list.</a:t>
            </a:r>
          </a:p>
        </p:txBody>
      </p:sp>
      <p:sp>
        <p:nvSpPr>
          <p:cNvPr id="85" name="Text 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86" name="Text 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INSIGHT 2 - REDUCED INEQUALITIES (SDG 10)</a:t>
            </a:r>
          </a:p>
        </p:txBody>
      </p:sp>
      <p:sp>
        <p:nvSpPr>
          <p:cNvPr id="89" name="Text 1"/>
          <p:cNvSpPr txBox="1"/>
          <p:nvPr/>
        </p:nvSpPr>
        <p:spPr>
          <a:xfrm>
            <a:off x="685799" y="1088711"/>
            <a:ext cx="7406642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The regional average hides a 56x gap</a:t>
            </a:r>
          </a:p>
        </p:txBody>
      </p:sp>
      <p:pic>
        <p:nvPicPr>
          <p:cNvPr id="9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920239"/>
            <a:ext cx="6858001" cy="4114801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"/>
          <p:cNvSpPr/>
          <p:nvPr/>
        </p:nvSpPr>
        <p:spPr>
          <a:xfrm>
            <a:off x="8229600" y="2011679"/>
            <a:ext cx="3291841" cy="2011681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2" name="Text 3"/>
          <p:cNvSpPr txBox="1"/>
          <p:nvPr/>
        </p:nvSpPr>
        <p:spPr>
          <a:xfrm>
            <a:off x="8503919" y="2208251"/>
            <a:ext cx="2834642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0B0B0B"/>
                </a:solidFill>
              </a:defRPr>
            </a:lvl1pPr>
          </a:lstStyle>
          <a:p>
            <a:pPr/>
            <a:r>
              <a:t>Reading it</a:t>
            </a:r>
          </a:p>
        </p:txBody>
      </p:sp>
      <p:sp>
        <p:nvSpPr>
          <p:cNvPr id="93" name="Text 4"/>
          <p:cNvSpPr txBox="1"/>
          <p:nvPr/>
        </p:nvSpPr>
        <p:spPr>
          <a:xfrm>
            <a:off x="8503919" y="2822100"/>
            <a:ext cx="2834642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Maternal mortality ranges from ~5 per 100,000 in Singapore to ~300 in Lao PDR. Equity, not just averages, must guide resources.</a:t>
            </a:r>
          </a:p>
        </p:txBody>
      </p:sp>
      <p:sp>
        <p:nvSpPr>
          <p:cNvPr id="94" name="Text 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95" name="Text 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INSIGHT 3 - EPIDEMIOLOGICAL FORECAST</a:t>
            </a:r>
          </a:p>
        </p:txBody>
      </p:sp>
      <p:sp>
        <p:nvSpPr>
          <p:cNvPr id="98" name="Text 1"/>
          <p:cNvSpPr txBox="1"/>
          <p:nvPr/>
        </p:nvSpPr>
        <p:spPr>
          <a:xfrm>
            <a:off x="685799" y="891861"/>
            <a:ext cx="7406642" cy="8680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Diverging TB trajectories demand diverging responses</a:t>
            </a:r>
          </a:p>
        </p:txBody>
      </p:sp>
      <p:pic>
        <p:nvPicPr>
          <p:cNvPr id="9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920239"/>
            <a:ext cx="6858001" cy="4114801"/>
          </a:xfrm>
          <a:prstGeom prst="rect">
            <a:avLst/>
          </a:prstGeom>
          <a:ln w="12700">
            <a:miter lim="400000"/>
          </a:ln>
        </p:spPr>
      </p:pic>
      <p:sp>
        <p:nvSpPr>
          <p:cNvPr id="100" name="Shape 2"/>
          <p:cNvSpPr/>
          <p:nvPr/>
        </p:nvSpPr>
        <p:spPr>
          <a:xfrm>
            <a:off x="8229600" y="2011679"/>
            <a:ext cx="3291841" cy="2011681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3"/>
          <p:cNvSpPr txBox="1"/>
          <p:nvPr/>
        </p:nvSpPr>
        <p:spPr>
          <a:xfrm>
            <a:off x="8503919" y="2208251"/>
            <a:ext cx="2834642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0B0B0B"/>
                </a:solidFill>
              </a:defRPr>
            </a:lvl1pPr>
          </a:lstStyle>
          <a:p>
            <a:pPr/>
            <a:r>
              <a:t>Reading it</a:t>
            </a:r>
          </a:p>
        </p:txBody>
      </p:sp>
      <p:sp>
        <p:nvSpPr>
          <p:cNvPr id="102" name="Text 4"/>
          <p:cNvSpPr txBox="1"/>
          <p:nvPr/>
        </p:nvSpPr>
        <p:spPr>
          <a:xfrm>
            <a:off x="8503919" y="2822100"/>
            <a:ext cx="2834642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Myanmar's TB is falling, but the Philippines is rising. A single regional policy would fail both. SIAGA forecasts each country.</a:t>
            </a:r>
          </a:p>
        </p:txBody>
      </p:sp>
      <p:sp>
        <p:nvSpPr>
          <p:cNvPr id="103" name="Text 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04" name="Text 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THE MODEL &amp; ITS PROOF</a:t>
            </a:r>
          </a:p>
        </p:txBody>
      </p:sp>
      <p:sp>
        <p:nvSpPr>
          <p:cNvPr id="107" name="Text 1"/>
          <p:cNvSpPr txBox="1"/>
          <p:nvPr/>
        </p:nvSpPr>
        <p:spPr>
          <a:xfrm>
            <a:off x="685800" y="951551"/>
            <a:ext cx="10881361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Honest by design, validated on data it never saw</a:t>
            </a:r>
          </a:p>
        </p:txBody>
      </p:sp>
      <p:pic>
        <p:nvPicPr>
          <p:cNvPr id="10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828800"/>
            <a:ext cx="4114801" cy="41148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hape 2"/>
          <p:cNvSpPr/>
          <p:nvPr/>
        </p:nvSpPr>
        <p:spPr>
          <a:xfrm>
            <a:off x="5029200" y="1874520"/>
            <a:ext cx="6492241" cy="1234441"/>
          </a:xfrm>
          <a:prstGeom prst="roundRect">
            <a:avLst>
              <a:gd name="adj" fmla="val 8889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" name="Text 3"/>
          <p:cNvSpPr txBox="1"/>
          <p:nvPr/>
        </p:nvSpPr>
        <p:spPr>
          <a:xfrm>
            <a:off x="5349240" y="2037863"/>
            <a:ext cx="5852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Predict the near future of a known country</a:t>
            </a:r>
          </a:p>
        </p:txBody>
      </p:sp>
      <p:sp>
        <p:nvSpPr>
          <p:cNvPr id="111" name="Text 4"/>
          <p:cNvSpPr txBox="1"/>
          <p:nvPr/>
        </p:nvSpPr>
        <p:spPr>
          <a:xfrm>
            <a:off x="5349240" y="2598788"/>
            <a:ext cx="5852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2A78D6"/>
                </a:solidFill>
              </a:defRPr>
            </a:lvl1pPr>
          </a:lstStyle>
          <a:p>
            <a:pPr/>
            <a:r>
              <a:t>1.12 years average error  |  R² 0.92 (2012-2014 held out)</a:t>
            </a:r>
          </a:p>
        </p:txBody>
      </p:sp>
      <p:sp>
        <p:nvSpPr>
          <p:cNvPr id="112" name="Shape 5"/>
          <p:cNvSpPr/>
          <p:nvPr/>
        </p:nvSpPr>
        <p:spPr>
          <a:xfrm>
            <a:off x="5029200" y="3291840"/>
            <a:ext cx="6492241" cy="1234441"/>
          </a:xfrm>
          <a:prstGeom prst="roundRect">
            <a:avLst>
              <a:gd name="adj" fmla="val 8889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6"/>
          <p:cNvSpPr txBox="1"/>
          <p:nvPr/>
        </p:nvSpPr>
        <p:spPr>
          <a:xfrm>
            <a:off x="5349240" y="3455183"/>
            <a:ext cx="5852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Hold up on independent World Bank data</a:t>
            </a:r>
          </a:p>
        </p:txBody>
      </p:sp>
      <p:sp>
        <p:nvSpPr>
          <p:cNvPr id="114" name="Text 7"/>
          <p:cNvSpPr txBox="1"/>
          <p:nvPr/>
        </p:nvSpPr>
        <p:spPr>
          <a:xfrm>
            <a:off x="5349240" y="4016108"/>
            <a:ext cx="5852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EB6834"/>
                </a:solidFill>
              </a:defRPr>
            </a:lvl1pPr>
          </a:lstStyle>
          <a:p>
            <a:pPr/>
            <a:r>
              <a:t>2.29 years average error  |  R² 0.69 (2015-2019, unseen source)</a:t>
            </a:r>
          </a:p>
        </p:txBody>
      </p:sp>
      <p:sp>
        <p:nvSpPr>
          <p:cNvPr id="115" name="Shape 8"/>
          <p:cNvSpPr/>
          <p:nvPr/>
        </p:nvSpPr>
        <p:spPr>
          <a:xfrm>
            <a:off x="5029200" y="4709159"/>
            <a:ext cx="6492241" cy="1234441"/>
          </a:xfrm>
          <a:prstGeom prst="roundRect">
            <a:avLst>
              <a:gd name="adj" fmla="val 8889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6" name="Text 9"/>
          <p:cNvSpPr txBox="1"/>
          <p:nvPr/>
        </p:nvSpPr>
        <p:spPr>
          <a:xfrm>
            <a:off x="5349240" y="4872503"/>
            <a:ext cx="5852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Safe by construction</a:t>
            </a:r>
          </a:p>
        </p:txBody>
      </p:sp>
      <p:sp>
        <p:nvSpPr>
          <p:cNvPr id="117" name="Text 10"/>
          <p:cNvSpPr txBox="1"/>
          <p:nvPr/>
        </p:nvSpPr>
        <p:spPr>
          <a:xfrm>
            <a:off x="5349240" y="5331828"/>
            <a:ext cx="5852161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0B0B0B"/>
                </a:solidFill>
              </a:defRPr>
            </a:lvl1pPr>
          </a:lstStyle>
          <a:p>
            <a:pPr/>
            <a:r>
              <a:t>Medical priors are hard-coded, so more staffing or vaccines can never lower the prediction.</a:t>
            </a:r>
          </a:p>
        </p:txBody>
      </p:sp>
      <p:sp>
        <p:nvSpPr>
          <p:cNvPr id="118" name="Text 11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19" name="Text 12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D36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CDE2FB"/>
                </a:solidFill>
              </a:defRPr>
            </a:lvl1pPr>
          </a:lstStyle>
          <a:p>
            <a:pPr/>
            <a:r>
              <a:t>THE PRODUCT</a:t>
            </a:r>
          </a:p>
        </p:txBody>
      </p:sp>
      <p:sp>
        <p:nvSpPr>
          <p:cNvPr id="122" name="Text 1"/>
          <p:cNvSpPr txBox="1"/>
          <p:nvPr/>
        </p:nvSpPr>
        <p:spPr>
          <a:xfrm>
            <a:off x="685800" y="951551"/>
            <a:ext cx="10881361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FFFFFF"/>
                </a:solidFill>
              </a:defRPr>
            </a:lvl1pPr>
          </a:lstStyle>
          <a:p>
            <a:pPr/>
            <a:r>
              <a:t>A dashboard a minister could use on Monday</a:t>
            </a:r>
          </a:p>
        </p:txBody>
      </p:sp>
      <p:pic>
        <p:nvPicPr>
          <p:cNvPr id="12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828800"/>
            <a:ext cx="5669280" cy="40233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926079" y="3200400"/>
            <a:ext cx="4114801" cy="2834640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Text 2"/>
          <p:cNvSpPr txBox="1"/>
          <p:nvPr/>
        </p:nvSpPr>
        <p:spPr>
          <a:xfrm>
            <a:off x="7726679" y="1933931"/>
            <a:ext cx="374904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Interactive policy simulator</a:t>
            </a:r>
          </a:p>
        </p:txBody>
      </p:sp>
      <p:sp>
        <p:nvSpPr>
          <p:cNvPr id="126" name="Text 3"/>
          <p:cNvSpPr txBox="1"/>
          <p:nvPr/>
        </p:nvSpPr>
        <p:spPr>
          <a:xfrm>
            <a:off x="7726679" y="2555400"/>
            <a:ext cx="37490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CDE2FB"/>
                </a:solidFill>
              </a:defRPr>
            </a:lvl1pPr>
          </a:lstStyle>
          <a:p>
            <a:pPr/>
            <a:r>
              <a:t>Move a lever, see the predicted change in life expectancy, live.</a:t>
            </a:r>
          </a:p>
        </p:txBody>
      </p:sp>
      <p:sp>
        <p:nvSpPr>
          <p:cNvPr id="127" name="Text 4"/>
          <p:cNvSpPr txBox="1"/>
          <p:nvPr/>
        </p:nvSpPr>
        <p:spPr>
          <a:xfrm>
            <a:off x="7726679" y="3305531"/>
            <a:ext cx="374904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Go interoperability API</a:t>
            </a:r>
          </a:p>
        </p:txBody>
      </p:sp>
      <p:sp>
        <p:nvSpPr>
          <p:cNvPr id="128" name="Text 5"/>
          <p:cNvSpPr txBox="1"/>
          <p:nvPr/>
        </p:nvSpPr>
        <p:spPr>
          <a:xfrm>
            <a:off x="7726679" y="3831750"/>
            <a:ext cx="3749041" cy="65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CDE2FB"/>
                </a:solidFill>
              </a:defRPr>
            </a:lvl1pPr>
          </a:lstStyle>
          <a:p>
            <a:pPr/>
            <a:r>
              <a:t>A dependency-free binary with API-key auth and rate limiting, serving one harmonized schema across borders (SDG 17).</a:t>
            </a:r>
          </a:p>
        </p:txBody>
      </p:sp>
      <p:sp>
        <p:nvSpPr>
          <p:cNvPr id="129" name="Text 6"/>
          <p:cNvSpPr txBox="1"/>
          <p:nvPr/>
        </p:nvSpPr>
        <p:spPr>
          <a:xfrm>
            <a:off x="7726679" y="4677131"/>
            <a:ext cx="374904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Versioned model + pipeline</a:t>
            </a:r>
          </a:p>
        </p:txBody>
      </p:sp>
      <p:sp>
        <p:nvSpPr>
          <p:cNvPr id="130" name="Text 7"/>
          <p:cNvSpPr txBox="1"/>
          <p:nvPr/>
        </p:nvSpPr>
        <p:spPr>
          <a:xfrm>
            <a:off x="7726679" y="5298600"/>
            <a:ext cx="37490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CDE2FB"/>
                </a:solidFill>
              </a:defRPr>
            </a:lvl1pPr>
          </a:lstStyle>
          <a:p>
            <a:pPr/>
            <a:r>
              <a:t>Retrain and redeploy from one command: python -m pipeline.train.</a:t>
            </a:r>
          </a:p>
        </p:txBody>
      </p:sp>
      <p:sp>
        <p:nvSpPr>
          <p:cNvPr id="131" name="Text 8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32" name="Text 9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WHAT TO DO NOW</a:t>
            </a:r>
          </a:p>
        </p:txBody>
      </p:sp>
      <p:sp>
        <p:nvSpPr>
          <p:cNvPr id="135" name="Text 1"/>
          <p:cNvSpPr txBox="1"/>
          <p:nvPr/>
        </p:nvSpPr>
        <p:spPr>
          <a:xfrm>
            <a:off x="685800" y="905831"/>
            <a:ext cx="10881361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Five actions, deployable today, grounded in the data</a:t>
            </a:r>
          </a:p>
        </p:txBody>
      </p:sp>
      <p:sp>
        <p:nvSpPr>
          <p:cNvPr id="136" name="Shape 2"/>
          <p:cNvSpPr/>
          <p:nvPr/>
        </p:nvSpPr>
        <p:spPr>
          <a:xfrm>
            <a:off x="640080" y="1645920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7" name="Text 3"/>
          <p:cNvSpPr txBox="1"/>
          <p:nvPr/>
        </p:nvSpPr>
        <p:spPr>
          <a:xfrm>
            <a:off x="685800" y="1722048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8" name="Text 4"/>
          <p:cNvSpPr txBox="1"/>
          <p:nvPr/>
        </p:nvSpPr>
        <p:spPr>
          <a:xfrm>
            <a:off x="1371600" y="1626383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Invest in water and sanitation where coverage lags</a:t>
            </a:r>
          </a:p>
        </p:txBody>
      </p:sp>
      <p:sp>
        <p:nvSpPr>
          <p:cNvPr id="139" name="Text 5"/>
          <p:cNvSpPr txBox="1"/>
          <p:nvPr/>
        </p:nvSpPr>
        <p:spPr>
          <a:xfrm>
            <a:off x="1371600" y="2062432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The model's #1 driver (~1.9 yrs) and the historical record agree. Prioritise WASH in Cambodia, Lao PDR, Myanmar.</a:t>
            </a:r>
          </a:p>
        </p:txBody>
      </p:sp>
      <p:sp>
        <p:nvSpPr>
          <p:cNvPr id="140" name="Shape 6"/>
          <p:cNvSpPr/>
          <p:nvPr/>
        </p:nvSpPr>
        <p:spPr>
          <a:xfrm>
            <a:off x="640080" y="2578607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1" name="Text 7"/>
          <p:cNvSpPr txBox="1"/>
          <p:nvPr/>
        </p:nvSpPr>
        <p:spPr>
          <a:xfrm>
            <a:off x="685800" y="2654736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42" name="Text 8"/>
          <p:cNvSpPr txBox="1"/>
          <p:nvPr/>
        </p:nvSpPr>
        <p:spPr>
          <a:xfrm>
            <a:off x="1371600" y="2559071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Surge TB case-finding in the Philippines and Cambodia</a:t>
            </a:r>
          </a:p>
        </p:txBody>
      </p:sp>
      <p:sp>
        <p:nvSpPr>
          <p:cNvPr id="143" name="Text 9"/>
          <p:cNvSpPr txBox="1"/>
          <p:nvPr/>
        </p:nvSpPr>
        <p:spPr>
          <a:xfrm>
            <a:off x="1371600" y="2995120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Forecasts show TB high or rising. Active case-finding, GeneXpert diagnostics, WHO DOTS adherence support.</a:t>
            </a:r>
          </a:p>
        </p:txBody>
      </p:sp>
      <p:sp>
        <p:nvSpPr>
          <p:cNvPr id="144" name="Shape 10"/>
          <p:cNvSpPr/>
          <p:nvPr/>
        </p:nvSpPr>
        <p:spPr>
          <a:xfrm>
            <a:off x="640080" y="3511296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Text 11"/>
          <p:cNvSpPr txBox="1"/>
          <p:nvPr/>
        </p:nvSpPr>
        <p:spPr>
          <a:xfrm>
            <a:off x="685800" y="3587424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6" name="Text 12"/>
          <p:cNvSpPr txBox="1"/>
          <p:nvPr/>
        </p:nvSpPr>
        <p:spPr>
          <a:xfrm>
            <a:off x="1371600" y="3491759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Fund maternal and child nutrition in high-burden states</a:t>
            </a:r>
          </a:p>
        </p:txBody>
      </p:sp>
      <p:sp>
        <p:nvSpPr>
          <p:cNvPr id="147" name="Text 13"/>
          <p:cNvSpPr txBox="1"/>
          <p:nvPr/>
        </p:nvSpPr>
        <p:spPr>
          <a:xfrm>
            <a:off x="1371600" y="3927808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Undernourishment stays a top driver. Micronutrients and school feeding, plus rural midwives for the 56x maternal gap.</a:t>
            </a:r>
          </a:p>
        </p:txBody>
      </p:sp>
      <p:sp>
        <p:nvSpPr>
          <p:cNvPr id="148" name="Shape 14"/>
          <p:cNvSpPr/>
          <p:nvPr/>
        </p:nvSpPr>
        <p:spPr>
          <a:xfrm>
            <a:off x="640080" y="4443984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Text 15"/>
          <p:cNvSpPr txBox="1"/>
          <p:nvPr/>
        </p:nvSpPr>
        <p:spPr>
          <a:xfrm>
            <a:off x="685800" y="4520112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50" name="Text 16"/>
          <p:cNvSpPr txBox="1"/>
          <p:nvPr/>
        </p:nvSpPr>
        <p:spPr>
          <a:xfrm>
            <a:off x="1371600" y="4424447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Protect immunization coverage above 95%</a:t>
            </a:r>
          </a:p>
        </p:txBody>
      </p:sp>
      <p:sp>
        <p:nvSpPr>
          <p:cNvPr id="151" name="Text 17"/>
          <p:cNvSpPr txBox="1"/>
          <p:nvPr/>
        </p:nvSpPr>
        <p:spPr>
          <a:xfrm>
            <a:off x="1371600" y="4860496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Measles and DPT are strong, cheap drivers. Sustain coverage and run catch-up campaigns where it dipped.</a:t>
            </a:r>
          </a:p>
        </p:txBody>
      </p:sp>
      <p:sp>
        <p:nvSpPr>
          <p:cNvPr id="152" name="Shape 18"/>
          <p:cNvSpPr/>
          <p:nvPr/>
        </p:nvSpPr>
        <p:spPr>
          <a:xfrm>
            <a:off x="640080" y="5376671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 19"/>
          <p:cNvSpPr txBox="1"/>
          <p:nvPr/>
        </p:nvSpPr>
        <p:spPr>
          <a:xfrm>
            <a:off x="685800" y="5452800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54" name="Text 20"/>
          <p:cNvSpPr txBox="1"/>
          <p:nvPr/>
        </p:nvSpPr>
        <p:spPr>
          <a:xfrm>
            <a:off x="1371600" y="5357135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Adopt one shared cross-border data schema (SDG 17)</a:t>
            </a:r>
          </a:p>
        </p:txBody>
      </p:sp>
      <p:sp>
        <p:nvSpPr>
          <p:cNvPr id="155" name="Text 21"/>
          <p:cNvSpPr txBox="1"/>
          <p:nvPr/>
        </p:nvSpPr>
        <p:spPr>
          <a:xfrm>
            <a:off x="1371600" y="5793184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Fragmentation delays outbreak detection. The SIAGA API lets member states share indicators for earlier warning.</a:t>
            </a:r>
          </a:p>
        </p:txBody>
      </p:sp>
      <p:sp>
        <p:nvSpPr>
          <p:cNvPr id="156" name="Text 22"/>
          <p:cNvSpPr txBox="1"/>
          <p:nvPr/>
        </p:nvSpPr>
        <p:spPr>
          <a:xfrm>
            <a:off x="685800" y="6378747"/>
            <a:ext cx="104241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6B6A66"/>
                </a:solidFill>
              </a:defRPr>
            </a:lvl1pPr>
          </a:lstStyle>
          <a:p>
            <a:pPr/>
            <a:r>
              <a:t>Recommendations reflect the data and established WHO/UN practice, independent of the model.</a:t>
            </a:r>
          </a:p>
        </p:txBody>
      </p:sp>
      <p:sp>
        <p:nvSpPr>
          <p:cNvPr id="157" name="Text 23"/>
          <p:cNvSpPr txBox="1"/>
          <p:nvPr/>
        </p:nvSpPr>
        <p:spPr>
          <a:xfrm>
            <a:off x="671588" y="6524705"/>
            <a:ext cx="539496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58" name="Text 24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10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IMPACT, FEASIBILITY &amp; ROADMAP</a:t>
            </a:r>
          </a:p>
        </p:txBody>
      </p:sp>
      <p:sp>
        <p:nvSpPr>
          <p:cNvPr id="161" name="Text 1"/>
          <p:cNvSpPr txBox="1"/>
          <p:nvPr/>
        </p:nvSpPr>
        <p:spPr>
          <a:xfrm>
            <a:off x="685800" y="945616"/>
            <a:ext cx="10881361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800">
                <a:solidFill>
                  <a:srgbClr val="0B0B0B"/>
                </a:solidFill>
              </a:defRPr>
            </a:lvl1pPr>
          </a:lstStyle>
          <a:p>
            <a:pPr/>
            <a:r>
              <a:t>Built to ship, designed to scale</a:t>
            </a:r>
          </a:p>
        </p:txBody>
      </p:sp>
      <p:sp>
        <p:nvSpPr>
          <p:cNvPr id="162" name="Shape 2"/>
          <p:cNvSpPr/>
          <p:nvPr/>
        </p:nvSpPr>
        <p:spPr>
          <a:xfrm>
            <a:off x="640080" y="1828800"/>
            <a:ext cx="3429001" cy="3017521"/>
          </a:xfrm>
          <a:prstGeom prst="roundRect">
            <a:avLst>
              <a:gd name="adj" fmla="val 363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Text 3"/>
          <p:cNvSpPr txBox="1"/>
          <p:nvPr/>
        </p:nvSpPr>
        <p:spPr>
          <a:xfrm>
            <a:off x="960119" y="2150247"/>
            <a:ext cx="2834642" cy="3629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2A78D6"/>
                </a:solidFill>
              </a:defRPr>
            </a:lvl1pPr>
          </a:lstStyle>
          <a:p>
            <a:pPr/>
            <a:r>
              <a:t>Feasible now</a:t>
            </a:r>
          </a:p>
        </p:txBody>
      </p:sp>
      <p:sp>
        <p:nvSpPr>
          <p:cNvPr id="164" name="Text 4"/>
          <p:cNvSpPr txBox="1"/>
          <p:nvPr/>
        </p:nvSpPr>
        <p:spPr>
          <a:xfrm>
            <a:off x="960119" y="3208387"/>
            <a:ext cx="2834642" cy="898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6A66"/>
                </a:solidFill>
              </a:defRPr>
            </a:lvl1pPr>
          </a:lstStyle>
          <a:p>
            <a:pPr/>
            <a:r>
              <a:t>Runs on free, open data and a static binary. No cloud lock-in. Designed for the unreliable power and connectivity in the brief.</a:t>
            </a:r>
          </a:p>
        </p:txBody>
      </p:sp>
      <p:sp>
        <p:nvSpPr>
          <p:cNvPr id="165" name="Shape 5"/>
          <p:cNvSpPr/>
          <p:nvPr/>
        </p:nvSpPr>
        <p:spPr>
          <a:xfrm>
            <a:off x="4343400" y="1828800"/>
            <a:ext cx="3429000" cy="3017521"/>
          </a:xfrm>
          <a:prstGeom prst="roundRect">
            <a:avLst>
              <a:gd name="adj" fmla="val 363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6"/>
          <p:cNvSpPr txBox="1"/>
          <p:nvPr/>
        </p:nvSpPr>
        <p:spPr>
          <a:xfrm>
            <a:off x="4663440" y="2150247"/>
            <a:ext cx="2834641" cy="3629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BAF7A"/>
                </a:solidFill>
              </a:defRPr>
            </a:lvl1pPr>
          </a:lstStyle>
          <a:p>
            <a:pPr/>
            <a:r>
              <a:t>Real impact</a:t>
            </a:r>
          </a:p>
        </p:txBody>
      </p:sp>
      <p:sp>
        <p:nvSpPr>
          <p:cNvPr id="167" name="Text 7"/>
          <p:cNvSpPr txBox="1"/>
          <p:nvPr/>
        </p:nvSpPr>
        <p:spPr>
          <a:xfrm>
            <a:off x="4663440" y="3106787"/>
            <a:ext cx="2834641" cy="1101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6A66"/>
                </a:solidFill>
              </a:defRPr>
            </a:lvl1pPr>
          </a:lstStyle>
          <a:p>
            <a:pPr/>
            <a:r>
              <a:t>Turns 'report the past' into 'act before the outbreak.' Every recommendation ties to a measurable driver of life expectancy.</a:t>
            </a:r>
          </a:p>
        </p:txBody>
      </p:sp>
      <p:sp>
        <p:nvSpPr>
          <p:cNvPr id="168" name="Shape 8"/>
          <p:cNvSpPr/>
          <p:nvPr/>
        </p:nvSpPr>
        <p:spPr>
          <a:xfrm>
            <a:off x="8046719" y="1828800"/>
            <a:ext cx="3429001" cy="3017521"/>
          </a:xfrm>
          <a:prstGeom prst="roundRect">
            <a:avLst>
              <a:gd name="adj" fmla="val 363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Text 9"/>
          <p:cNvSpPr txBox="1"/>
          <p:nvPr/>
        </p:nvSpPr>
        <p:spPr>
          <a:xfrm>
            <a:off x="8366760" y="2150247"/>
            <a:ext cx="2834641" cy="3629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EB6834"/>
                </a:solidFill>
              </a:defRPr>
            </a:lvl1pPr>
          </a:lstStyle>
          <a:p>
            <a:pPr/>
            <a:r>
              <a:t>Phase 2 roadmap</a:t>
            </a:r>
          </a:p>
        </p:txBody>
      </p:sp>
      <p:sp>
        <p:nvSpPr>
          <p:cNvPr id="170" name="Text 10"/>
          <p:cNvSpPr txBox="1"/>
          <p:nvPr/>
        </p:nvSpPr>
        <p:spPr>
          <a:xfrm>
            <a:off x="8366760" y="3208387"/>
            <a:ext cx="2834641" cy="898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6A66"/>
                </a:solidFill>
              </a:defRPr>
            </a:lvl1pPr>
          </a:lstStyle>
          <a:p>
            <a:pPr/>
            <a:r>
              <a:t>Blockchain consent and audit layer for cross-border data. Flutter offline-first field app. Climate and mobility data for nowcasting.</a:t>
            </a:r>
          </a:p>
        </p:txBody>
      </p:sp>
      <p:sp>
        <p:nvSpPr>
          <p:cNvPr id="171" name="Text 11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72" name="Text 12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11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D36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CDE2FB"/>
                </a:solidFill>
              </a:defRPr>
            </a:lvl1pPr>
          </a:lstStyle>
          <a:p>
            <a:pPr/>
            <a:r>
              <a:t>WHY SIAGA WINS</a:t>
            </a:r>
          </a:p>
        </p:txBody>
      </p:sp>
      <p:sp>
        <p:nvSpPr>
          <p:cNvPr id="175" name="Text 1"/>
          <p:cNvSpPr txBox="1"/>
          <p:nvPr/>
        </p:nvSpPr>
        <p:spPr>
          <a:xfrm>
            <a:off x="685800" y="703868"/>
            <a:ext cx="9509761" cy="1655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Rigorous, explainable, and honest, and it works before the outbreak, not after.</a:t>
            </a:r>
            <a:br/>
            <a:br/>
            <a:r>
              <a:t>Team Members </a:t>
            </a:r>
          </a:p>
        </p:txBody>
      </p:sp>
      <p:sp>
        <p:nvSpPr>
          <p:cNvPr id="176" name="Shape 10"/>
          <p:cNvSpPr/>
          <p:nvPr/>
        </p:nvSpPr>
        <p:spPr>
          <a:xfrm>
            <a:off x="2865674" y="2559904"/>
            <a:ext cx="854857" cy="1828801"/>
          </a:xfrm>
          <a:prstGeom prst="roundRect">
            <a:avLst>
              <a:gd name="adj" fmla="val 10696"/>
            </a:avLst>
          </a:prstGeom>
          <a:solidFill>
            <a:srgbClr val="16416E"/>
          </a:solidFill>
          <a:ln w="12700">
            <a:solidFill>
              <a:srgbClr val="4A6A95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Text 11"/>
          <p:cNvSpPr txBox="1"/>
          <p:nvPr/>
        </p:nvSpPr>
        <p:spPr>
          <a:xfrm>
            <a:off x="2628900" y="4482317"/>
            <a:ext cx="15087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algn="ctr">
              <a:defRPr b="1" sz="1200">
                <a:solidFill>
                  <a:srgbClr val="D7E3F5"/>
                </a:solidFill>
              </a:defRPr>
            </a:lvl1pPr>
          </a:lstStyle>
          <a:p>
            <a:pPr/>
            <a:r>
              <a:t>Christian Oamhen</a:t>
            </a:r>
          </a:p>
        </p:txBody>
      </p:sp>
      <p:sp>
        <p:nvSpPr>
          <p:cNvPr id="178" name="Shape 12"/>
          <p:cNvSpPr/>
          <p:nvPr/>
        </p:nvSpPr>
        <p:spPr>
          <a:xfrm>
            <a:off x="903075" y="2414432"/>
            <a:ext cx="1407409" cy="1828801"/>
          </a:xfrm>
          <a:prstGeom prst="roundRect">
            <a:avLst>
              <a:gd name="adj" fmla="val 6497"/>
            </a:avLst>
          </a:prstGeom>
          <a:solidFill>
            <a:srgbClr val="16416E"/>
          </a:solidFill>
          <a:ln w="12700">
            <a:solidFill>
              <a:srgbClr val="4A6A95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13"/>
          <p:cNvSpPr txBox="1"/>
          <p:nvPr/>
        </p:nvSpPr>
        <p:spPr>
          <a:xfrm>
            <a:off x="852399" y="4298359"/>
            <a:ext cx="1508761" cy="4047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/>
          <a:p>
            <a:pPr algn="ctr">
              <a:defRPr b="1" sz="1200">
                <a:solidFill>
                  <a:srgbClr val="D7E3F5"/>
                </a:solidFill>
              </a:defRPr>
            </a:pPr>
            <a:r>
              <a:t>David O. Agyakwa</a:t>
            </a:r>
          </a:p>
          <a:p>
            <a:pPr algn="ctr">
              <a:defRPr b="1" sz="1200">
                <a:solidFill>
                  <a:srgbClr val="D7E3F5"/>
                </a:solidFill>
              </a:defRPr>
            </a:pPr>
            <a:r>
              <a:rPr b="0" sz="1000">
                <a:solidFill>
                  <a:srgbClr val="9FB6D6"/>
                </a:solidFill>
              </a:rPr>
              <a:t>Leader</a:t>
            </a:r>
          </a:p>
        </p:txBody>
      </p:sp>
      <p:sp>
        <p:nvSpPr>
          <p:cNvPr id="180" name="Text 14"/>
          <p:cNvSpPr txBox="1"/>
          <p:nvPr/>
        </p:nvSpPr>
        <p:spPr>
          <a:xfrm>
            <a:off x="685800" y="5142990"/>
            <a:ext cx="9052561" cy="41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2200">
                <a:solidFill>
                  <a:srgbClr val="CDE2FB"/>
                </a:solidFill>
              </a:defRPr>
            </a:pPr>
            <a:r>
              <a:t>Pod Nova   |   </a:t>
            </a:r>
            <a:r>
              <a:rPr b="1">
                <a:solidFill>
                  <a:srgbClr val="FFFFFF"/>
                </a:solidFill>
              </a:rPr>
              <a:t>Vote SIAGA.</a:t>
            </a:r>
          </a:p>
        </p:txBody>
      </p:sp>
      <p:sp>
        <p:nvSpPr>
          <p:cNvPr id="181" name="Text 1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82" name="Text 1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12</a:t>
            </a:r>
          </a:p>
        </p:txBody>
      </p:sp>
      <p:pic>
        <p:nvPicPr>
          <p:cNvPr id="183" name="pasted-movie.heic" descr="pasted-movie.heic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1213" y="2441411"/>
            <a:ext cx="1331133" cy="177484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pasted-movie.heic" descr="pasted-movie.heic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87906" y="2551074"/>
            <a:ext cx="810393" cy="17558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