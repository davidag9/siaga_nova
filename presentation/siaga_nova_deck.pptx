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54845" y="6224224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731518" y="4155784"/>
            <a:ext cx="9052564" cy="37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20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eye that watches five years ahead.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31518" y="4708050"/>
            <a:ext cx="10881364" cy="27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100" sz="13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10Alytics Global Hackathon 2026   |   Track B: Data Science   |   Pod Nova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31518" y="6085793"/>
            <a:ext cx="10881364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An early-warning intelligence layer for ASEAN public health   |  A Dedication towards  SDG 3, 10, 17</a:t>
            </a:r>
          </a:p>
        </p:txBody>
      </p:sp>
      <p:pic>
        <p:nvPicPr>
          <p:cNvPr id="23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63262"/>
          <a:stretch>
            <a:fillRect/>
          </a:stretch>
        </p:blipFill>
        <p:spPr>
          <a:xfrm>
            <a:off x="57382" y="1633051"/>
            <a:ext cx="6385087" cy="2345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26" name="Text 1"/>
          <p:cNvSpPr txBox="1"/>
          <p:nvPr/>
        </p:nvSpPr>
        <p:spPr>
          <a:xfrm>
            <a:off x="685800" y="991752"/>
            <a:ext cx="10424161" cy="942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30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Southeast Asia's health systems react after the crisis.</a:t>
            </a:r>
          </a:p>
          <a:p>
            <a:pPr>
              <a:defRPr b="1" sz="30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By then, people have already died.</a:t>
            </a:r>
          </a:p>
        </p:txBody>
      </p:sp>
      <p:sp>
        <p:nvSpPr>
          <p:cNvPr id="27" name="Text 2"/>
          <p:cNvSpPr txBox="1"/>
          <p:nvPr/>
        </p:nvSpPr>
        <p:spPr>
          <a:xfrm>
            <a:off x="685798" y="2680757"/>
            <a:ext cx="3383283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54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16 yrs</a:t>
            </a:r>
          </a:p>
        </p:txBody>
      </p:sp>
      <p:sp>
        <p:nvSpPr>
          <p:cNvPr id="28" name="Text 3"/>
          <p:cNvSpPr txBox="1"/>
          <p:nvPr/>
        </p:nvSpPr>
        <p:spPr>
          <a:xfrm>
            <a:off x="685799" y="3835561"/>
            <a:ext cx="3291842" cy="46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gap in life expectancy between the best and worst ASEAN member state</a:t>
            </a:r>
          </a:p>
        </p:txBody>
      </p:sp>
      <p:sp>
        <p:nvSpPr>
          <p:cNvPr id="29" name="Text 4"/>
          <p:cNvSpPr txBox="1"/>
          <p:nvPr/>
        </p:nvSpPr>
        <p:spPr>
          <a:xfrm>
            <a:off x="4434840" y="2680757"/>
            <a:ext cx="3383282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5400">
                <a:solidFill>
                  <a:srgbClr val="EB683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56x</a:t>
            </a:r>
          </a:p>
        </p:txBody>
      </p:sp>
      <p:sp>
        <p:nvSpPr>
          <p:cNvPr id="30" name="Text 5"/>
          <p:cNvSpPr txBox="1"/>
          <p:nvPr/>
        </p:nvSpPr>
        <p:spPr>
          <a:xfrm>
            <a:off x="4434840" y="3835561"/>
            <a:ext cx="3291842" cy="46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higher risk of dying in childbirth in Lao PDR than in Singapore</a:t>
            </a:r>
          </a:p>
        </p:txBody>
      </p:sp>
      <p:sp>
        <p:nvSpPr>
          <p:cNvPr id="31" name="Text 6"/>
          <p:cNvSpPr txBox="1"/>
          <p:nvPr/>
        </p:nvSpPr>
        <p:spPr>
          <a:xfrm>
            <a:off x="8183878" y="2680757"/>
            <a:ext cx="3383282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54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~45%</a:t>
            </a:r>
          </a:p>
        </p:txBody>
      </p:sp>
      <p:sp>
        <p:nvSpPr>
          <p:cNvPr id="32" name="Text 7"/>
          <p:cNvSpPr txBox="1"/>
          <p:nvPr/>
        </p:nvSpPr>
        <p:spPr>
          <a:xfrm>
            <a:off x="8183878" y="3835561"/>
            <a:ext cx="3291842" cy="46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of the global tuberculosis burden sits in the ASEAN region</a:t>
            </a:r>
          </a:p>
        </p:txBody>
      </p:sp>
      <p:sp>
        <p:nvSpPr>
          <p:cNvPr id="33" name="Text 8"/>
          <p:cNvSpPr txBox="1"/>
          <p:nvPr/>
        </p:nvSpPr>
        <p:spPr>
          <a:xfrm>
            <a:off x="685800" y="5269160"/>
            <a:ext cx="10424161" cy="617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data to prevent these outcomes exists, but it is fragmented, dirty, and backward-looking. SIAGA turns it into foresight.</a:t>
            </a:r>
          </a:p>
        </p:txBody>
      </p:sp>
      <p:sp>
        <p:nvSpPr>
          <p:cNvPr id="34" name="Text 9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35" name="Text 10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38" name="Text 1"/>
          <p:cNvSpPr txBox="1"/>
          <p:nvPr/>
        </p:nvSpPr>
        <p:spPr>
          <a:xfrm>
            <a:off x="685800" y="933332"/>
            <a:ext cx="10881361" cy="510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30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Three decision tools in one intelligence layer</a:t>
            </a:r>
          </a:p>
        </p:txBody>
      </p:sp>
      <p:sp>
        <p:nvSpPr>
          <p:cNvPr id="39" name="Shape 2"/>
          <p:cNvSpPr/>
          <p:nvPr/>
        </p:nvSpPr>
        <p:spPr>
          <a:xfrm>
            <a:off x="640080" y="1828800"/>
            <a:ext cx="3429002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0" name="Shape 3"/>
          <p:cNvSpPr/>
          <p:nvPr/>
        </p:nvSpPr>
        <p:spPr>
          <a:xfrm>
            <a:off x="914400" y="2103120"/>
            <a:ext cx="1371600" cy="384050"/>
          </a:xfrm>
          <a:prstGeom prst="roundRect">
            <a:avLst>
              <a:gd name="adj" fmla="val 47619"/>
            </a:avLst>
          </a:prstGeom>
          <a:solidFill>
            <a:srgbClr val="CDE2F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1" name="Text 4"/>
          <p:cNvSpPr txBox="1"/>
          <p:nvPr/>
        </p:nvSpPr>
        <p:spPr>
          <a:xfrm>
            <a:off x="960119" y="2156874"/>
            <a:ext cx="1280162" cy="27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0D366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Predict</a:t>
            </a:r>
          </a:p>
        </p:txBody>
      </p:sp>
      <p:sp>
        <p:nvSpPr>
          <p:cNvPr id="42" name="Text 5"/>
          <p:cNvSpPr txBox="1"/>
          <p:nvPr/>
        </p:nvSpPr>
        <p:spPr>
          <a:xfrm>
            <a:off x="960118" y="2613589"/>
            <a:ext cx="2834644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Lifespan model</a:t>
            </a:r>
          </a:p>
        </p:txBody>
      </p:sp>
      <p:sp>
        <p:nvSpPr>
          <p:cNvPr id="43" name="Text 6"/>
          <p:cNvSpPr txBox="1"/>
          <p:nvPr/>
        </p:nvSpPr>
        <p:spPr>
          <a:xfrm>
            <a:off x="960118" y="3229770"/>
            <a:ext cx="2834644" cy="1038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Predicts a country's life expectancy from the levers a health ministry controls: staffing, immunization, spend, disease burden, nutrition, sanitation, agriculture, and climate.</a:t>
            </a:r>
          </a:p>
        </p:txBody>
      </p:sp>
      <p:sp>
        <p:nvSpPr>
          <p:cNvPr id="44" name="Shape 7"/>
          <p:cNvSpPr/>
          <p:nvPr/>
        </p:nvSpPr>
        <p:spPr>
          <a:xfrm>
            <a:off x="4343400" y="18288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5" name="Shape 8"/>
          <p:cNvSpPr/>
          <p:nvPr/>
        </p:nvSpPr>
        <p:spPr>
          <a:xfrm>
            <a:off x="4617720" y="2103120"/>
            <a:ext cx="1371602" cy="384050"/>
          </a:xfrm>
          <a:prstGeom prst="roundRect">
            <a:avLst>
              <a:gd name="adj" fmla="val 47619"/>
            </a:avLst>
          </a:prstGeom>
          <a:solidFill>
            <a:srgbClr val="CDE2F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6" name="Text 9"/>
          <p:cNvSpPr txBox="1"/>
          <p:nvPr/>
        </p:nvSpPr>
        <p:spPr>
          <a:xfrm>
            <a:off x="4663440" y="2156874"/>
            <a:ext cx="1280162" cy="27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0D366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Explain</a:t>
            </a:r>
          </a:p>
        </p:txBody>
      </p:sp>
      <p:sp>
        <p:nvSpPr>
          <p:cNvPr id="47" name="Text 10"/>
          <p:cNvSpPr txBox="1"/>
          <p:nvPr/>
        </p:nvSpPr>
        <p:spPr>
          <a:xfrm>
            <a:off x="4663440" y="2613589"/>
            <a:ext cx="2834642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Driver isolation</a:t>
            </a:r>
          </a:p>
        </p:txBody>
      </p:sp>
      <p:sp>
        <p:nvSpPr>
          <p:cNvPr id="48" name="Text 11"/>
          <p:cNvSpPr txBox="1"/>
          <p:nvPr/>
        </p:nvSpPr>
        <p:spPr>
          <a:xfrm>
            <a:off x="4663440" y="3325020"/>
            <a:ext cx="2834642" cy="84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SHAP ranks every driver in years of life expectancy, so officials see where the next investment buys the most benefit.</a:t>
            </a:r>
          </a:p>
        </p:txBody>
      </p:sp>
      <p:sp>
        <p:nvSpPr>
          <p:cNvPr id="49" name="Shape 12"/>
          <p:cNvSpPr/>
          <p:nvPr/>
        </p:nvSpPr>
        <p:spPr>
          <a:xfrm>
            <a:off x="8046718" y="1828800"/>
            <a:ext cx="3429003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50" name="Shape 13"/>
          <p:cNvSpPr/>
          <p:nvPr/>
        </p:nvSpPr>
        <p:spPr>
          <a:xfrm>
            <a:off x="8321040" y="2103120"/>
            <a:ext cx="1371602" cy="384050"/>
          </a:xfrm>
          <a:prstGeom prst="roundRect">
            <a:avLst>
              <a:gd name="adj" fmla="val 47619"/>
            </a:avLst>
          </a:prstGeom>
          <a:solidFill>
            <a:srgbClr val="CDE2F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51" name="Text 14"/>
          <p:cNvSpPr txBox="1"/>
          <p:nvPr/>
        </p:nvSpPr>
        <p:spPr>
          <a:xfrm>
            <a:off x="8366759" y="2156874"/>
            <a:ext cx="1280162" cy="27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300">
                <a:solidFill>
                  <a:srgbClr val="0D366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Forecast</a:t>
            </a:r>
          </a:p>
        </p:txBody>
      </p:sp>
      <p:sp>
        <p:nvSpPr>
          <p:cNvPr id="52" name="Text 15"/>
          <p:cNvSpPr txBox="1"/>
          <p:nvPr/>
        </p:nvSpPr>
        <p:spPr>
          <a:xfrm>
            <a:off x="8366759" y="2613589"/>
            <a:ext cx="2834642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Disease early-warning</a:t>
            </a:r>
          </a:p>
        </p:txBody>
      </p:sp>
      <p:sp>
        <p:nvSpPr>
          <p:cNvPr id="53" name="Text 16"/>
          <p:cNvSpPr txBox="1"/>
          <p:nvPr/>
        </p:nvSpPr>
        <p:spPr>
          <a:xfrm>
            <a:off x="8366759" y="3325020"/>
            <a:ext cx="2834642" cy="84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Backtested time-series models forecast TB and malaria five years ahead, with honest uncertainty bands.</a:t>
            </a:r>
          </a:p>
        </p:txBody>
      </p:sp>
      <p:sp>
        <p:nvSpPr>
          <p:cNvPr id="54" name="Text 17"/>
          <p:cNvSpPr txBox="1"/>
          <p:nvPr/>
        </p:nvSpPr>
        <p:spPr>
          <a:xfrm>
            <a:off x="685800" y="4982370"/>
            <a:ext cx="10424161" cy="27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is Malay for "alert, ready, on standby", the word ASEAN governments use for emergency preparedness.</a:t>
            </a:r>
          </a:p>
        </p:txBody>
      </p:sp>
      <p:sp>
        <p:nvSpPr>
          <p:cNvPr id="55" name="Text 18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56" name="Text 19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DATA &amp; METHOD</a:t>
            </a:r>
          </a:p>
        </p:txBody>
      </p:sp>
      <p:sp>
        <p:nvSpPr>
          <p:cNvPr id="59" name="Text 1"/>
          <p:cNvSpPr txBox="1"/>
          <p:nvPr/>
        </p:nvSpPr>
        <p:spPr>
          <a:xfrm>
            <a:off x="685800" y="945617"/>
            <a:ext cx="10881361" cy="486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8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Rigour first: we cleaned, then we proved the cleaning</a:t>
            </a:r>
          </a:p>
        </p:txBody>
      </p:sp>
      <p:sp>
        <p:nvSpPr>
          <p:cNvPr id="60" name="Shape 2"/>
          <p:cNvSpPr/>
          <p:nvPr/>
        </p:nvSpPr>
        <p:spPr>
          <a:xfrm>
            <a:off x="640080" y="1828800"/>
            <a:ext cx="2560322" cy="3108962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61" name="Text 3"/>
          <p:cNvSpPr txBox="1"/>
          <p:nvPr/>
        </p:nvSpPr>
        <p:spPr>
          <a:xfrm>
            <a:off x="914399" y="2069080"/>
            <a:ext cx="2103123" cy="708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4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62" name="Text 4"/>
          <p:cNvSpPr txBox="1"/>
          <p:nvPr/>
        </p:nvSpPr>
        <p:spPr>
          <a:xfrm>
            <a:off x="914399" y="2742507"/>
            <a:ext cx="2103123" cy="73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datasets harmonized (18 ASEAN + 2 external)</a:t>
            </a:r>
          </a:p>
        </p:txBody>
      </p:sp>
      <p:sp>
        <p:nvSpPr>
          <p:cNvPr id="63" name="Text 5"/>
          <p:cNvSpPr txBox="1"/>
          <p:nvPr/>
        </p:nvSpPr>
        <p:spPr>
          <a:xfrm>
            <a:off x="914399" y="3670252"/>
            <a:ext cx="2103123" cy="797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into one clean country-year panel: names reconciled, headers fixed, text-numbers parsed.</a:t>
            </a:r>
          </a:p>
        </p:txBody>
      </p:sp>
      <p:sp>
        <p:nvSpPr>
          <p:cNvPr id="64" name="Shape 6"/>
          <p:cNvSpPr/>
          <p:nvPr/>
        </p:nvSpPr>
        <p:spPr>
          <a:xfrm>
            <a:off x="3429000" y="1828800"/>
            <a:ext cx="2560322" cy="3108962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65" name="Text 7"/>
          <p:cNvSpPr txBox="1"/>
          <p:nvPr/>
        </p:nvSpPr>
        <p:spPr>
          <a:xfrm>
            <a:off x="3703318" y="2069080"/>
            <a:ext cx="2103123" cy="708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4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0.93</a:t>
            </a:r>
          </a:p>
        </p:txBody>
      </p:sp>
      <p:sp>
        <p:nvSpPr>
          <p:cNvPr id="66" name="Text 8"/>
          <p:cNvSpPr txBox="1"/>
          <p:nvPr/>
        </p:nvSpPr>
        <p:spPr>
          <a:xfrm>
            <a:off x="3703318" y="2850457"/>
            <a:ext cx="2103123" cy="51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agreement with World Bank</a:t>
            </a:r>
          </a:p>
        </p:txBody>
      </p:sp>
      <p:sp>
        <p:nvSpPr>
          <p:cNvPr id="67" name="Text 9"/>
          <p:cNvSpPr txBox="1"/>
          <p:nvPr/>
        </p:nvSpPr>
        <p:spPr>
          <a:xfrm>
            <a:off x="3703318" y="3759152"/>
            <a:ext cx="2103123" cy="619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life-expectancy correlation with an independent source confirms the harmonization.</a:t>
            </a:r>
          </a:p>
        </p:txBody>
      </p:sp>
      <p:sp>
        <p:nvSpPr>
          <p:cNvPr id="68" name="Shape 10"/>
          <p:cNvSpPr/>
          <p:nvPr/>
        </p:nvSpPr>
        <p:spPr>
          <a:xfrm>
            <a:off x="6217920" y="1828800"/>
            <a:ext cx="2560322" cy="3108962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69" name="Text 11"/>
          <p:cNvSpPr txBox="1"/>
          <p:nvPr/>
        </p:nvSpPr>
        <p:spPr>
          <a:xfrm>
            <a:off x="6492240" y="2069080"/>
            <a:ext cx="2103122" cy="708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400">
                <a:solidFill>
                  <a:srgbClr val="EB683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0" name="Text 12"/>
          <p:cNvSpPr txBox="1"/>
          <p:nvPr/>
        </p:nvSpPr>
        <p:spPr>
          <a:xfrm>
            <a:off x="6492240" y="2958407"/>
            <a:ext cx="2103122" cy="30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errors adjudicated</a:t>
            </a:r>
          </a:p>
        </p:txBody>
      </p:sp>
      <p:sp>
        <p:nvSpPr>
          <p:cNvPr id="71" name="Text 13"/>
          <p:cNvSpPr txBox="1"/>
          <p:nvPr/>
        </p:nvSpPr>
        <p:spPr>
          <a:xfrm>
            <a:off x="6492240" y="3670252"/>
            <a:ext cx="2103122" cy="797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suspected entry errors confirmed against World Bank before repair, not dropped on a hunch.</a:t>
            </a:r>
          </a:p>
        </p:txBody>
      </p:sp>
      <p:sp>
        <p:nvSpPr>
          <p:cNvPr id="72" name="Shape 14"/>
          <p:cNvSpPr/>
          <p:nvPr/>
        </p:nvSpPr>
        <p:spPr>
          <a:xfrm>
            <a:off x="9006840" y="1828800"/>
            <a:ext cx="2560322" cy="3108962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73" name="Text 15"/>
          <p:cNvSpPr txBox="1"/>
          <p:nvPr/>
        </p:nvSpPr>
        <p:spPr>
          <a:xfrm>
            <a:off x="9281159" y="2069080"/>
            <a:ext cx="2103122" cy="708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44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4" name="Text 16"/>
          <p:cNvSpPr txBox="1"/>
          <p:nvPr/>
        </p:nvSpPr>
        <p:spPr>
          <a:xfrm>
            <a:off x="9281159" y="2958407"/>
            <a:ext cx="2103122" cy="30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datasets discarded</a:t>
            </a:r>
          </a:p>
        </p:txBody>
      </p:sp>
      <p:sp>
        <p:nvSpPr>
          <p:cNvPr id="75" name="Text 17"/>
          <p:cNvSpPr txBox="1"/>
          <p:nvPr/>
        </p:nvSpPr>
        <p:spPr>
          <a:xfrm>
            <a:off x="9281159" y="3759152"/>
            <a:ext cx="2103122" cy="619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every file has a role: features, forecast targets, or the equity layer.</a:t>
            </a:r>
          </a:p>
        </p:txBody>
      </p:sp>
      <p:sp>
        <p:nvSpPr>
          <p:cNvPr id="76" name="Text 18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77" name="Text 19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INSIGHT 1 - DRIVER ISOLATION</a:t>
            </a:r>
          </a:p>
        </p:txBody>
      </p:sp>
      <p:sp>
        <p:nvSpPr>
          <p:cNvPr id="80" name="Text 1"/>
          <p:cNvSpPr txBox="1"/>
          <p:nvPr/>
        </p:nvSpPr>
        <p:spPr>
          <a:xfrm>
            <a:off x="685799" y="891861"/>
            <a:ext cx="7406641" cy="86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Sanitation, disease burden, income, and climate drive life expectancy most</a:t>
            </a:r>
          </a:p>
        </p:txBody>
      </p:sp>
      <p:pic>
        <p:nvPicPr>
          <p:cNvPr id="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920238"/>
            <a:ext cx="6858001" cy="4114803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Shape 2"/>
          <p:cNvSpPr/>
          <p:nvPr/>
        </p:nvSpPr>
        <p:spPr>
          <a:xfrm>
            <a:off x="8229600" y="2011678"/>
            <a:ext cx="3291841" cy="2011683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83" name="Text 3"/>
          <p:cNvSpPr txBox="1"/>
          <p:nvPr/>
        </p:nvSpPr>
        <p:spPr>
          <a:xfrm>
            <a:off x="8503918" y="2208252"/>
            <a:ext cx="2834643" cy="33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7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Reading it</a:t>
            </a:r>
          </a:p>
        </p:txBody>
      </p:sp>
      <p:sp>
        <p:nvSpPr>
          <p:cNvPr id="84" name="Text 4"/>
          <p:cNvSpPr txBox="1"/>
          <p:nvPr/>
        </p:nvSpPr>
        <p:spPr>
          <a:xfrm>
            <a:off x="8503918" y="2631601"/>
            <a:ext cx="2834643" cy="1229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Basic sanitation access is the largest lever (~1.9 yrs), ahead of TB, HIV, income, and agriculture share. Climate factors add 0.5 years of signal. This ranking is the policy priority list.</a:t>
            </a:r>
          </a:p>
        </p:txBody>
      </p:sp>
      <p:sp>
        <p:nvSpPr>
          <p:cNvPr id="85" name="Text 5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86" name="Text 6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INSIGHT 2 - REDUCED INEQUALITIES (SDG 10)</a:t>
            </a:r>
          </a:p>
        </p:txBody>
      </p:sp>
      <p:sp>
        <p:nvSpPr>
          <p:cNvPr id="89" name="Text 1"/>
          <p:cNvSpPr txBox="1"/>
          <p:nvPr/>
        </p:nvSpPr>
        <p:spPr>
          <a:xfrm>
            <a:off x="685799" y="1088711"/>
            <a:ext cx="7406641" cy="474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regional average hides a 56x gap</a:t>
            </a:r>
          </a:p>
        </p:txBody>
      </p:sp>
      <p:pic>
        <p:nvPicPr>
          <p:cNvPr id="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920238"/>
            <a:ext cx="6858001" cy="4114803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hape 2"/>
          <p:cNvSpPr/>
          <p:nvPr/>
        </p:nvSpPr>
        <p:spPr>
          <a:xfrm>
            <a:off x="8229600" y="2011678"/>
            <a:ext cx="3291841" cy="2011683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92" name="Text 3"/>
          <p:cNvSpPr txBox="1"/>
          <p:nvPr/>
        </p:nvSpPr>
        <p:spPr>
          <a:xfrm>
            <a:off x="8503918" y="2208252"/>
            <a:ext cx="2834643" cy="33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7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Reading it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8503918" y="2822101"/>
            <a:ext cx="2834643" cy="84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Maternal mortality ranges from ~5 per 100,000 in Singapore to ~300 in Lao PDR. Equity, not just averages, must guide resources.</a:t>
            </a:r>
          </a:p>
        </p:txBody>
      </p:sp>
      <p:sp>
        <p:nvSpPr>
          <p:cNvPr id="94" name="Text 5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INSIGHT 3 - EPIDEMIOLOGICAL FORECAST</a:t>
            </a:r>
          </a:p>
        </p:txBody>
      </p:sp>
      <p:sp>
        <p:nvSpPr>
          <p:cNvPr id="98" name="Text 1"/>
          <p:cNvSpPr txBox="1"/>
          <p:nvPr/>
        </p:nvSpPr>
        <p:spPr>
          <a:xfrm>
            <a:off x="685799" y="891861"/>
            <a:ext cx="7406641" cy="86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Diverging TB trajectories demand diverging responses</a:t>
            </a:r>
          </a:p>
        </p:txBody>
      </p:sp>
      <p:pic>
        <p:nvPicPr>
          <p:cNvPr id="9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920238"/>
            <a:ext cx="6858001" cy="4114803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hape 2"/>
          <p:cNvSpPr/>
          <p:nvPr/>
        </p:nvSpPr>
        <p:spPr>
          <a:xfrm>
            <a:off x="8229600" y="2011678"/>
            <a:ext cx="3291841" cy="2011683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01" name="Text 3"/>
          <p:cNvSpPr txBox="1"/>
          <p:nvPr/>
        </p:nvSpPr>
        <p:spPr>
          <a:xfrm>
            <a:off x="8503918" y="2208252"/>
            <a:ext cx="2834643" cy="33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7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Reading it</a:t>
            </a:r>
          </a:p>
        </p:txBody>
      </p:sp>
      <p:sp>
        <p:nvSpPr>
          <p:cNvPr id="102" name="Text 4"/>
          <p:cNvSpPr txBox="1"/>
          <p:nvPr/>
        </p:nvSpPr>
        <p:spPr>
          <a:xfrm>
            <a:off x="8503918" y="2822101"/>
            <a:ext cx="2834643" cy="84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Myanmar's TB is falling, but the Philippines is rising. A single regional policy would fail both. SIAGA forecasts each country.</a:t>
            </a:r>
          </a:p>
        </p:txBody>
      </p:sp>
      <p:sp>
        <p:nvSpPr>
          <p:cNvPr id="103" name="Text 5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104" name="Text 6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MODEL &amp; ITS PROOF</a:t>
            </a:r>
          </a:p>
        </p:txBody>
      </p:sp>
      <p:sp>
        <p:nvSpPr>
          <p:cNvPr id="107" name="Text 1"/>
          <p:cNvSpPr txBox="1"/>
          <p:nvPr/>
        </p:nvSpPr>
        <p:spPr>
          <a:xfrm>
            <a:off x="685800" y="951552"/>
            <a:ext cx="10881361" cy="474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Honest by design, validated on data it never saw</a:t>
            </a:r>
          </a:p>
        </p:txBody>
      </p:sp>
      <p:pic>
        <p:nvPicPr>
          <p:cNvPr id="1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828800"/>
            <a:ext cx="4114802" cy="41148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hape 2"/>
          <p:cNvSpPr/>
          <p:nvPr/>
        </p:nvSpPr>
        <p:spPr>
          <a:xfrm>
            <a:off x="5029200" y="1874520"/>
            <a:ext cx="6492241" cy="1234442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10" name="Text 3"/>
          <p:cNvSpPr txBox="1"/>
          <p:nvPr/>
        </p:nvSpPr>
        <p:spPr>
          <a:xfrm>
            <a:off x="5349240" y="2037864"/>
            <a:ext cx="5852162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Predict the near future of a known country</a:t>
            </a:r>
          </a:p>
        </p:txBody>
      </p:sp>
      <p:sp>
        <p:nvSpPr>
          <p:cNvPr id="111" name="Text 4"/>
          <p:cNvSpPr txBox="1"/>
          <p:nvPr/>
        </p:nvSpPr>
        <p:spPr>
          <a:xfrm>
            <a:off x="5349240" y="2598789"/>
            <a:ext cx="5852162" cy="288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1.08 years average error  |  R² 0.93 (2012-2014 held out)</a:t>
            </a:r>
          </a:p>
        </p:txBody>
      </p:sp>
      <p:sp>
        <p:nvSpPr>
          <p:cNvPr id="112" name="Shape 5"/>
          <p:cNvSpPr/>
          <p:nvPr/>
        </p:nvSpPr>
        <p:spPr>
          <a:xfrm>
            <a:off x="5029200" y="3291840"/>
            <a:ext cx="6492241" cy="1234442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13" name="Text 6"/>
          <p:cNvSpPr txBox="1"/>
          <p:nvPr/>
        </p:nvSpPr>
        <p:spPr>
          <a:xfrm>
            <a:off x="5349240" y="3455183"/>
            <a:ext cx="5852162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Hold up on independent World Bank data</a:t>
            </a:r>
          </a:p>
        </p:txBody>
      </p:sp>
      <p:sp>
        <p:nvSpPr>
          <p:cNvPr id="114" name="Text 7"/>
          <p:cNvSpPr txBox="1"/>
          <p:nvPr/>
        </p:nvSpPr>
        <p:spPr>
          <a:xfrm>
            <a:off x="5349240" y="4016108"/>
            <a:ext cx="5852162" cy="288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EB683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1.96 years average error  |  R² 0.76 (2015-2019, unseen source)</a:t>
            </a:r>
          </a:p>
        </p:txBody>
      </p:sp>
      <p:sp>
        <p:nvSpPr>
          <p:cNvPr id="115" name="Shape 8"/>
          <p:cNvSpPr/>
          <p:nvPr/>
        </p:nvSpPr>
        <p:spPr>
          <a:xfrm>
            <a:off x="5029200" y="4709159"/>
            <a:ext cx="6492241" cy="1234442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16" name="Text 9"/>
          <p:cNvSpPr txBox="1"/>
          <p:nvPr/>
        </p:nvSpPr>
        <p:spPr>
          <a:xfrm>
            <a:off x="5349240" y="4872503"/>
            <a:ext cx="5852162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Safe by construction</a:t>
            </a:r>
          </a:p>
        </p:txBody>
      </p:sp>
      <p:sp>
        <p:nvSpPr>
          <p:cNvPr id="117" name="Text 10"/>
          <p:cNvSpPr txBox="1"/>
          <p:nvPr/>
        </p:nvSpPr>
        <p:spPr>
          <a:xfrm>
            <a:off x="5349240" y="5331829"/>
            <a:ext cx="5852162" cy="492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Medical priors are hard-coded, so more staffing or vaccines can never lower the prediction.</a:t>
            </a:r>
          </a:p>
        </p:txBody>
      </p:sp>
      <p:sp>
        <p:nvSpPr>
          <p:cNvPr id="118" name="Text 11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119" name="Text 12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CDE2F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PRODUCT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685800" y="951552"/>
            <a:ext cx="10881361" cy="474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 dashboard a minister could use on Monday</a:t>
            </a:r>
          </a:p>
        </p:txBody>
      </p:sp>
      <p:pic>
        <p:nvPicPr>
          <p:cNvPr id="1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828800"/>
            <a:ext cx="5669280" cy="4023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26078" y="3200400"/>
            <a:ext cx="4114803" cy="2834640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 2"/>
          <p:cNvSpPr txBox="1"/>
          <p:nvPr/>
        </p:nvSpPr>
        <p:spPr>
          <a:xfrm>
            <a:off x="7726678" y="1933932"/>
            <a:ext cx="3749042" cy="33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Interactive policy simulator</a:t>
            </a:r>
          </a:p>
        </p:txBody>
      </p:sp>
      <p:sp>
        <p:nvSpPr>
          <p:cNvPr id="126" name="Text 3"/>
          <p:cNvSpPr txBox="1"/>
          <p:nvPr/>
        </p:nvSpPr>
        <p:spPr>
          <a:xfrm>
            <a:off x="7726678" y="2555401"/>
            <a:ext cx="3749042" cy="46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DE2F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Move a lever, see the predicted change in life expectancy, live.</a:t>
            </a:r>
          </a:p>
        </p:txBody>
      </p:sp>
      <p:sp>
        <p:nvSpPr>
          <p:cNvPr id="127" name="Text 4"/>
          <p:cNvSpPr txBox="1"/>
          <p:nvPr/>
        </p:nvSpPr>
        <p:spPr>
          <a:xfrm>
            <a:off x="7726678" y="3305532"/>
            <a:ext cx="3749042" cy="33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Go interoperability API</a:t>
            </a:r>
          </a:p>
        </p:txBody>
      </p:sp>
      <p:sp>
        <p:nvSpPr>
          <p:cNvPr id="128" name="Text 5"/>
          <p:cNvSpPr txBox="1"/>
          <p:nvPr/>
        </p:nvSpPr>
        <p:spPr>
          <a:xfrm>
            <a:off x="7726678" y="3831750"/>
            <a:ext cx="3749042" cy="657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DE2F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 dependency-free binary with API-key auth and rate limiting, serving one harmonized schema across borders (SDG 17).</a:t>
            </a:r>
          </a:p>
        </p:txBody>
      </p:sp>
      <p:sp>
        <p:nvSpPr>
          <p:cNvPr id="129" name="Text 6"/>
          <p:cNvSpPr txBox="1"/>
          <p:nvPr/>
        </p:nvSpPr>
        <p:spPr>
          <a:xfrm>
            <a:off x="7726678" y="4677132"/>
            <a:ext cx="3749042" cy="33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Versioned model + pipeline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7726678" y="5298600"/>
            <a:ext cx="3749042" cy="467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CDE2F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Retrain and redeploy from one command: python -m pipeline.train.</a:t>
            </a:r>
          </a:p>
        </p:txBody>
      </p:sp>
      <p:sp>
        <p:nvSpPr>
          <p:cNvPr id="131" name="Text 8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132" name="Text 9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WHAT TO DO NOW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685800" y="905832"/>
            <a:ext cx="10881361" cy="474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Five actions, deployable today, grounded in the data</a:t>
            </a:r>
          </a:p>
        </p:txBody>
      </p:sp>
      <p:sp>
        <p:nvSpPr>
          <p:cNvPr id="136" name="Shape 2"/>
          <p:cNvSpPr/>
          <p:nvPr/>
        </p:nvSpPr>
        <p:spPr>
          <a:xfrm>
            <a:off x="640080" y="1645920"/>
            <a:ext cx="502923" cy="502923"/>
          </a:xfrm>
          <a:prstGeom prst="ellipse">
            <a:avLst/>
          </a:prstGeom>
          <a:solidFill>
            <a:srgbClr val="EB6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37" name="Text 3"/>
          <p:cNvSpPr txBox="1"/>
          <p:nvPr/>
        </p:nvSpPr>
        <p:spPr>
          <a:xfrm>
            <a:off x="685799" y="1722048"/>
            <a:ext cx="411482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8" name="Text 4"/>
          <p:cNvSpPr txBox="1"/>
          <p:nvPr/>
        </p:nvSpPr>
        <p:spPr>
          <a:xfrm>
            <a:off x="1371600" y="1626384"/>
            <a:ext cx="9966961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Invest in water and sanitation where coverage lags</a:t>
            </a:r>
          </a:p>
        </p:txBody>
      </p:sp>
      <p:sp>
        <p:nvSpPr>
          <p:cNvPr id="139" name="Text 5"/>
          <p:cNvSpPr txBox="1"/>
          <p:nvPr/>
        </p:nvSpPr>
        <p:spPr>
          <a:xfrm>
            <a:off x="1371600" y="2062433"/>
            <a:ext cx="9966961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The model's #1 driver (~1.9 yrs) and the historical record agree. Prioritise WASH in Cambodia, Lao PDR, Myanmar.</a:t>
            </a:r>
          </a:p>
        </p:txBody>
      </p:sp>
      <p:sp>
        <p:nvSpPr>
          <p:cNvPr id="140" name="Shape 6"/>
          <p:cNvSpPr/>
          <p:nvPr/>
        </p:nvSpPr>
        <p:spPr>
          <a:xfrm>
            <a:off x="640080" y="2578606"/>
            <a:ext cx="502923" cy="502923"/>
          </a:xfrm>
          <a:prstGeom prst="ellipse">
            <a:avLst/>
          </a:prstGeom>
          <a:solidFill>
            <a:srgbClr val="EB6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41" name="Text 7"/>
          <p:cNvSpPr txBox="1"/>
          <p:nvPr/>
        </p:nvSpPr>
        <p:spPr>
          <a:xfrm>
            <a:off x="685799" y="2654737"/>
            <a:ext cx="411482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2" name="Text 8"/>
          <p:cNvSpPr txBox="1"/>
          <p:nvPr/>
        </p:nvSpPr>
        <p:spPr>
          <a:xfrm>
            <a:off x="1371600" y="2559071"/>
            <a:ext cx="996696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Surge TB case-finding in the Philippines and Cambodia</a:t>
            </a:r>
          </a:p>
        </p:txBody>
      </p:sp>
      <p:sp>
        <p:nvSpPr>
          <p:cNvPr id="143" name="Text 9"/>
          <p:cNvSpPr txBox="1"/>
          <p:nvPr/>
        </p:nvSpPr>
        <p:spPr>
          <a:xfrm>
            <a:off x="1371600" y="2995121"/>
            <a:ext cx="9966961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Forecasts show TB high or rising. Active case-finding, GeneXpert diagnostics, WHO DOTS adherence support.</a:t>
            </a:r>
          </a:p>
        </p:txBody>
      </p:sp>
      <p:sp>
        <p:nvSpPr>
          <p:cNvPr id="144" name="Shape 10"/>
          <p:cNvSpPr/>
          <p:nvPr/>
        </p:nvSpPr>
        <p:spPr>
          <a:xfrm>
            <a:off x="640080" y="3511296"/>
            <a:ext cx="502923" cy="502923"/>
          </a:xfrm>
          <a:prstGeom prst="ellipse">
            <a:avLst/>
          </a:prstGeom>
          <a:solidFill>
            <a:srgbClr val="EB6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45" name="Text 11"/>
          <p:cNvSpPr txBox="1"/>
          <p:nvPr/>
        </p:nvSpPr>
        <p:spPr>
          <a:xfrm>
            <a:off x="685799" y="3587425"/>
            <a:ext cx="411482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6" name="Text 12"/>
          <p:cNvSpPr txBox="1"/>
          <p:nvPr/>
        </p:nvSpPr>
        <p:spPr>
          <a:xfrm>
            <a:off x="1371600" y="3491759"/>
            <a:ext cx="996696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Fund maternal and child nutrition in high-burden states</a:t>
            </a:r>
          </a:p>
        </p:txBody>
      </p:sp>
      <p:sp>
        <p:nvSpPr>
          <p:cNvPr id="147" name="Text 13"/>
          <p:cNvSpPr txBox="1"/>
          <p:nvPr/>
        </p:nvSpPr>
        <p:spPr>
          <a:xfrm>
            <a:off x="1371600" y="3927808"/>
            <a:ext cx="99669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Undernourishment stays a top driver. Micronutrients and school feeding, plus rural midwives for the 56x maternal gap.</a:t>
            </a:r>
          </a:p>
        </p:txBody>
      </p:sp>
      <p:sp>
        <p:nvSpPr>
          <p:cNvPr id="148" name="Shape 14"/>
          <p:cNvSpPr/>
          <p:nvPr/>
        </p:nvSpPr>
        <p:spPr>
          <a:xfrm>
            <a:off x="640080" y="4443984"/>
            <a:ext cx="502923" cy="502923"/>
          </a:xfrm>
          <a:prstGeom prst="ellipse">
            <a:avLst/>
          </a:prstGeom>
          <a:solidFill>
            <a:srgbClr val="EB6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49" name="Text 15"/>
          <p:cNvSpPr txBox="1"/>
          <p:nvPr/>
        </p:nvSpPr>
        <p:spPr>
          <a:xfrm>
            <a:off x="685799" y="4520113"/>
            <a:ext cx="411482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0" name="Text 16"/>
          <p:cNvSpPr txBox="1"/>
          <p:nvPr/>
        </p:nvSpPr>
        <p:spPr>
          <a:xfrm>
            <a:off x="1371600" y="4424447"/>
            <a:ext cx="996696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Protect immunization coverage above 95%</a:t>
            </a:r>
          </a:p>
        </p:txBody>
      </p:sp>
      <p:sp>
        <p:nvSpPr>
          <p:cNvPr id="151" name="Text 17"/>
          <p:cNvSpPr txBox="1"/>
          <p:nvPr/>
        </p:nvSpPr>
        <p:spPr>
          <a:xfrm>
            <a:off x="1371600" y="4860496"/>
            <a:ext cx="99669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Measles and DPT are strong, cheap drivers. Sustain coverage and run catch-up campaigns where it dipped.</a:t>
            </a:r>
          </a:p>
        </p:txBody>
      </p:sp>
      <p:sp>
        <p:nvSpPr>
          <p:cNvPr id="152" name="Shape 18"/>
          <p:cNvSpPr/>
          <p:nvPr/>
        </p:nvSpPr>
        <p:spPr>
          <a:xfrm>
            <a:off x="640080" y="5376671"/>
            <a:ext cx="502923" cy="502923"/>
          </a:xfrm>
          <a:prstGeom prst="ellipse">
            <a:avLst/>
          </a:prstGeom>
          <a:solidFill>
            <a:srgbClr val="EB6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53" name="Text 19"/>
          <p:cNvSpPr txBox="1"/>
          <p:nvPr/>
        </p:nvSpPr>
        <p:spPr>
          <a:xfrm>
            <a:off x="685799" y="5452801"/>
            <a:ext cx="411482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4" name="Text 20"/>
          <p:cNvSpPr txBox="1"/>
          <p:nvPr/>
        </p:nvSpPr>
        <p:spPr>
          <a:xfrm>
            <a:off x="1371600" y="5357136"/>
            <a:ext cx="9966961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6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Adopt one shared cross-border data schema (SDG 17)</a:t>
            </a:r>
          </a:p>
        </p:txBody>
      </p:sp>
      <p:sp>
        <p:nvSpPr>
          <p:cNvPr id="155" name="Text 21"/>
          <p:cNvSpPr txBox="1"/>
          <p:nvPr/>
        </p:nvSpPr>
        <p:spPr>
          <a:xfrm>
            <a:off x="1371600" y="5793184"/>
            <a:ext cx="99669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Fragmentation delays outbreak detection. The SIAGA API lets member states share indicators for earlier warning.</a:t>
            </a:r>
          </a:p>
        </p:txBody>
      </p:sp>
      <p:sp>
        <p:nvSpPr>
          <p:cNvPr id="156" name="Text 22"/>
          <p:cNvSpPr txBox="1"/>
          <p:nvPr/>
        </p:nvSpPr>
        <p:spPr>
          <a:xfrm>
            <a:off x="685800" y="6131860"/>
            <a:ext cx="10424161" cy="22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i="1" sz="10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Recommendations reflect the data and established WHO/UN practice, independent of the model.</a:t>
            </a:r>
          </a:p>
        </p:txBody>
      </p:sp>
      <p:sp>
        <p:nvSpPr>
          <p:cNvPr id="157" name="Text 23"/>
          <p:cNvSpPr txBox="1"/>
          <p:nvPr/>
        </p:nvSpPr>
        <p:spPr>
          <a:xfrm>
            <a:off x="671587" y="6524705"/>
            <a:ext cx="5394962" cy="2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158" name="Text 24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IMPACT, FEASIBILITY &amp; ROADMAP</a:t>
            </a:r>
          </a:p>
        </p:txBody>
      </p:sp>
      <p:sp>
        <p:nvSpPr>
          <p:cNvPr id="161" name="Text 1"/>
          <p:cNvSpPr txBox="1"/>
          <p:nvPr/>
        </p:nvSpPr>
        <p:spPr>
          <a:xfrm>
            <a:off x="685800" y="945617"/>
            <a:ext cx="10881361" cy="486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800">
                <a:solidFill>
                  <a:srgbClr val="0B0B0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Built to ship, designed to scale</a:t>
            </a:r>
          </a:p>
        </p:txBody>
      </p:sp>
      <p:sp>
        <p:nvSpPr>
          <p:cNvPr id="162" name="Shape 2"/>
          <p:cNvSpPr/>
          <p:nvPr/>
        </p:nvSpPr>
        <p:spPr>
          <a:xfrm>
            <a:off x="640080" y="1828800"/>
            <a:ext cx="3429002" cy="3017522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63" name="Text 3"/>
          <p:cNvSpPr txBox="1"/>
          <p:nvPr/>
        </p:nvSpPr>
        <p:spPr>
          <a:xfrm>
            <a:off x="960118" y="2150248"/>
            <a:ext cx="2834644" cy="362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900">
                <a:solidFill>
                  <a:srgbClr val="2A78D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Feasible now</a:t>
            </a:r>
          </a:p>
        </p:txBody>
      </p:sp>
      <p:sp>
        <p:nvSpPr>
          <p:cNvPr id="164" name="Text 4"/>
          <p:cNvSpPr txBox="1"/>
          <p:nvPr/>
        </p:nvSpPr>
        <p:spPr>
          <a:xfrm>
            <a:off x="960118" y="3208387"/>
            <a:ext cx="2834644" cy="898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Runs on free, open data and a static binary. No cloud lock-in. Designed for the unreliable power and connectivity in the brief.</a:t>
            </a:r>
          </a:p>
        </p:txBody>
      </p:sp>
      <p:sp>
        <p:nvSpPr>
          <p:cNvPr id="165" name="Shape 5"/>
          <p:cNvSpPr/>
          <p:nvPr/>
        </p:nvSpPr>
        <p:spPr>
          <a:xfrm>
            <a:off x="4343400" y="1828800"/>
            <a:ext cx="3429000" cy="3017522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66" name="Text 6"/>
          <p:cNvSpPr txBox="1"/>
          <p:nvPr/>
        </p:nvSpPr>
        <p:spPr>
          <a:xfrm>
            <a:off x="4663440" y="2150248"/>
            <a:ext cx="2834642" cy="362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900">
                <a:solidFill>
                  <a:srgbClr val="1BAF7A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Real impact</a:t>
            </a:r>
          </a:p>
        </p:txBody>
      </p:sp>
      <p:sp>
        <p:nvSpPr>
          <p:cNvPr id="167" name="Text 7"/>
          <p:cNvSpPr txBox="1"/>
          <p:nvPr/>
        </p:nvSpPr>
        <p:spPr>
          <a:xfrm>
            <a:off x="4663440" y="3106787"/>
            <a:ext cx="2834642" cy="1101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Turns 'report the past' into 'act before the outbreak.' Every recommendation ties to a measurable driver of life expectancy.</a:t>
            </a:r>
          </a:p>
        </p:txBody>
      </p:sp>
      <p:sp>
        <p:nvSpPr>
          <p:cNvPr id="168" name="Shape 8"/>
          <p:cNvSpPr/>
          <p:nvPr/>
        </p:nvSpPr>
        <p:spPr>
          <a:xfrm>
            <a:off x="8046718" y="1828800"/>
            <a:ext cx="3429003" cy="3017522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6E8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69" name="Text 9"/>
          <p:cNvSpPr txBox="1"/>
          <p:nvPr/>
        </p:nvSpPr>
        <p:spPr>
          <a:xfrm>
            <a:off x="8366759" y="2150248"/>
            <a:ext cx="2834642" cy="362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900">
                <a:solidFill>
                  <a:srgbClr val="EB683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Phase 2 roadmap</a:t>
            </a:r>
          </a:p>
        </p:txBody>
      </p:sp>
      <p:sp>
        <p:nvSpPr>
          <p:cNvPr id="170" name="Text 10"/>
          <p:cNvSpPr txBox="1"/>
          <p:nvPr/>
        </p:nvSpPr>
        <p:spPr>
          <a:xfrm>
            <a:off x="8366759" y="3005188"/>
            <a:ext cx="2834642" cy="1304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Blockchain consent and audit layer for cross-border data. Flutter offline-first field app. Mobility and soil data for nowcasting. Climate (NASA POWER) already integrated.</a:t>
            </a:r>
          </a:p>
        </p:txBody>
      </p:sp>
      <p:sp>
        <p:nvSpPr>
          <p:cNvPr id="171" name="Text 11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172" name="Text 12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 txBox="1"/>
          <p:nvPr/>
        </p:nvSpPr>
        <p:spPr>
          <a:xfrm>
            <a:off x="685800" y="507952"/>
            <a:ext cx="10881361" cy="264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200">
                <a:solidFill>
                  <a:srgbClr val="CDE2FB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WHY SIAGA WINS</a:t>
            </a:r>
          </a:p>
        </p:txBody>
      </p:sp>
      <p:sp>
        <p:nvSpPr>
          <p:cNvPr id="175" name="Text 1"/>
          <p:cNvSpPr txBox="1"/>
          <p:nvPr/>
        </p:nvSpPr>
        <p:spPr>
          <a:xfrm>
            <a:off x="685800" y="703869"/>
            <a:ext cx="9509761" cy="165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Rigorous, explainable, and honest, and it works before the outbreak, not after.</a:t>
            </a:r>
            <a:br/>
            <a:br/>
            <a:r>
              <a:t>Team Members </a:t>
            </a:r>
          </a:p>
        </p:txBody>
      </p:sp>
      <p:sp>
        <p:nvSpPr>
          <p:cNvPr id="176" name="Shape 10"/>
          <p:cNvSpPr/>
          <p:nvPr/>
        </p:nvSpPr>
        <p:spPr>
          <a:xfrm>
            <a:off x="2865673" y="2559904"/>
            <a:ext cx="854858" cy="1828801"/>
          </a:xfrm>
          <a:prstGeom prst="roundRect">
            <a:avLst>
              <a:gd name="adj" fmla="val 10696"/>
            </a:avLst>
          </a:prstGeom>
          <a:solidFill>
            <a:srgbClr val="16416E"/>
          </a:solidFill>
          <a:ln w="12700">
            <a:solidFill>
              <a:srgbClr val="4A6A95"/>
            </a:solidFill>
            <a:prstDash val="dash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7" name="Text 11"/>
          <p:cNvSpPr txBox="1"/>
          <p:nvPr/>
        </p:nvSpPr>
        <p:spPr>
          <a:xfrm>
            <a:off x="2628899" y="4482318"/>
            <a:ext cx="1508763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>
            <a:lvl1pPr algn="ctr">
              <a:defRPr b="1" sz="1200">
                <a:solidFill>
                  <a:srgbClr val="D7E3F5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Christian Oamhen</a:t>
            </a:r>
          </a:p>
        </p:txBody>
      </p:sp>
      <p:sp>
        <p:nvSpPr>
          <p:cNvPr id="178" name="Shape 12"/>
          <p:cNvSpPr/>
          <p:nvPr/>
        </p:nvSpPr>
        <p:spPr>
          <a:xfrm>
            <a:off x="903075" y="2414432"/>
            <a:ext cx="1407409" cy="1828802"/>
          </a:xfrm>
          <a:prstGeom prst="roundRect">
            <a:avLst>
              <a:gd name="adj" fmla="val 6497"/>
            </a:avLst>
          </a:prstGeom>
          <a:solidFill>
            <a:srgbClr val="16416E"/>
          </a:solidFill>
          <a:ln w="12700">
            <a:solidFill>
              <a:srgbClr val="4A6A95"/>
            </a:solidFill>
            <a:prstDash val="dash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79" name="Text 13"/>
          <p:cNvSpPr txBox="1"/>
          <p:nvPr/>
        </p:nvSpPr>
        <p:spPr>
          <a:xfrm>
            <a:off x="852399" y="4298359"/>
            <a:ext cx="1508762" cy="404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spAutoFit/>
          </a:bodyPr>
          <a:lstStyle/>
          <a:p>
            <a:pPr algn="ctr">
              <a:defRPr b="1" sz="1200">
                <a:solidFill>
                  <a:srgbClr val="D7E3F5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David O. Agyakwa</a:t>
            </a:r>
          </a:p>
          <a:p>
            <a:pPr algn="ctr">
              <a:defRPr sz="1000">
                <a:solidFill>
                  <a:srgbClr val="9FB6D6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Leader</a:t>
            </a:r>
          </a:p>
        </p:txBody>
      </p:sp>
      <p:sp>
        <p:nvSpPr>
          <p:cNvPr id="180" name="Text 14"/>
          <p:cNvSpPr txBox="1"/>
          <p:nvPr/>
        </p:nvSpPr>
        <p:spPr>
          <a:xfrm>
            <a:off x="685800" y="5142990"/>
            <a:ext cx="9052561" cy="41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200">
                <a:solidFill>
                  <a:srgbClr val="CDE2FB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Pod Nova   |   </a:t>
            </a:r>
            <a:r>
              <a:rPr b="1">
                <a:solidFill>
                  <a:srgbClr val="FFFFFF"/>
                </a:solidFill>
              </a:rPr>
              <a:t>Vote SIAGA.</a:t>
            </a:r>
          </a:p>
        </p:txBody>
      </p:sp>
      <p:sp>
        <p:nvSpPr>
          <p:cNvPr id="181" name="Text 15"/>
          <p:cNvSpPr txBox="1"/>
          <p:nvPr/>
        </p:nvSpPr>
        <p:spPr>
          <a:xfrm>
            <a:off x="685799" y="6448898"/>
            <a:ext cx="539496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SIAGA NOVA</a:t>
            </a:r>
          </a:p>
        </p:txBody>
      </p:sp>
      <p:sp>
        <p:nvSpPr>
          <p:cNvPr id="182" name="Text 16"/>
          <p:cNvSpPr txBox="1"/>
          <p:nvPr/>
        </p:nvSpPr>
        <p:spPr>
          <a:xfrm>
            <a:off x="11201399" y="6448898"/>
            <a:ext cx="457203" cy="214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B6A66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pic>
        <p:nvPicPr>
          <p:cNvPr id="183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1212" y="2441411"/>
            <a:ext cx="1331134" cy="1774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7906" y="2551073"/>
            <a:ext cx="810394" cy="17558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